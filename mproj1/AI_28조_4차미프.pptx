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29LT Adir" panose="020B0600000101010101" charset="-78"/>
      <p:regular r:id="rId20"/>
    </p:embeddedFont>
    <p:embeddedFont>
      <p:font typeface="29LT Adir Bold" panose="020B0600000101010101" charset="-78"/>
      <p:regular r:id="rId21"/>
    </p:embeddedFont>
    <p:embeddedFont>
      <p:font typeface="29LT Adir Semi-Bold" panose="020B0600000101010101" charset="-78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Glacial Indifference" panose="020B0600000101010101" charset="0"/>
      <p:regular r:id="rId27"/>
    </p:embeddedFont>
    <p:embeddedFont>
      <p:font typeface="Glacial Indifference Bold" panose="020B0600000101010101" charset="0"/>
      <p:regular r:id="rId28"/>
    </p:embeddedFont>
    <p:embeddedFont>
      <p:font typeface="Grand Cru S Bold" panose="020B0600000101010101" charset="0"/>
      <p:regular r:id="rId29"/>
    </p:embeddedFont>
    <p:embeddedFont>
      <p:font typeface="Grand Cru S Medium" panose="020B0600000101010101" charset="0"/>
      <p:regular r:id="rId30"/>
    </p:embeddedFont>
    <p:embeddedFont>
      <p:font typeface="Grand Cru S Ultra-Bold" panose="020B0600000101010101" charset="0"/>
      <p:regular r:id="rId31"/>
    </p:embeddedFont>
    <p:embeddedFont>
      <p:font typeface="Questrial" panose="020B0600000101010101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22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joon0017/mproj04_aivle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92716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4183338" y="3693519"/>
            <a:ext cx="9921323" cy="3564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04"/>
              </a:lnSpc>
            </a:pPr>
            <a:r>
              <a:rPr lang="en-US" sz="11684" b="1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  <a:sym typeface="Grand Cru S Ultra-Bold"/>
              </a:rPr>
              <a:t>AI 도서관리 </a:t>
            </a:r>
          </a:p>
          <a:p>
            <a:pPr algn="ctr">
              <a:lnSpc>
                <a:spcPts val="13904"/>
              </a:lnSpc>
            </a:pPr>
            <a:r>
              <a:rPr lang="en-US" sz="11684" b="1">
                <a:solidFill>
                  <a:srgbClr val="261310"/>
                </a:solidFill>
                <a:latin typeface="Grand Cru S Ultra-Bold"/>
                <a:ea typeface="Grand Cru S Ultra-Bold"/>
                <a:cs typeface="Grand Cru S Ultra-Bold"/>
                <a:sym typeface="Grand Cru S Ultra-Bold"/>
              </a:rPr>
              <a:t>시스템</a:t>
            </a:r>
          </a:p>
        </p:txBody>
      </p:sp>
      <p:sp>
        <p:nvSpPr>
          <p:cNvPr id="10" name="Freeform 10"/>
          <p:cNvSpPr/>
          <p:nvPr/>
        </p:nvSpPr>
        <p:spPr>
          <a:xfrm rot="4366001">
            <a:off x="14667403" y="6459010"/>
            <a:ext cx="1290889" cy="2909046"/>
          </a:xfrm>
          <a:custGeom>
            <a:avLst/>
            <a:gdLst/>
            <a:ahLst/>
            <a:cxnLst/>
            <a:rect l="l" t="t" r="r" b="b"/>
            <a:pathLst>
              <a:path w="1290889" h="2909046">
                <a:moveTo>
                  <a:pt x="0" y="0"/>
                </a:moveTo>
                <a:lnTo>
                  <a:pt x="1290890" y="0"/>
                </a:lnTo>
                <a:lnTo>
                  <a:pt x="1290890" y="2909046"/>
                </a:lnTo>
                <a:lnTo>
                  <a:pt x="0" y="2909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61096" y="2697073"/>
            <a:ext cx="3067013" cy="2748811"/>
          </a:xfrm>
          <a:custGeom>
            <a:avLst/>
            <a:gdLst/>
            <a:ahLst/>
            <a:cxnLst/>
            <a:rect l="l" t="t" r="r" b="b"/>
            <a:pathLst>
              <a:path w="3067013" h="2748811">
                <a:moveTo>
                  <a:pt x="0" y="0"/>
                </a:moveTo>
                <a:lnTo>
                  <a:pt x="3067014" y="0"/>
                </a:lnTo>
                <a:lnTo>
                  <a:pt x="3067014" y="2748811"/>
                </a:lnTo>
                <a:lnTo>
                  <a:pt x="0" y="2748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917090">
            <a:off x="1892432" y="6355617"/>
            <a:ext cx="3133783" cy="2534447"/>
          </a:xfrm>
          <a:custGeom>
            <a:avLst/>
            <a:gdLst/>
            <a:ahLst/>
            <a:cxnLst/>
            <a:rect l="l" t="t" r="r" b="b"/>
            <a:pathLst>
              <a:path w="3133783" h="2534447">
                <a:moveTo>
                  <a:pt x="0" y="0"/>
                </a:moveTo>
                <a:lnTo>
                  <a:pt x="3133784" y="0"/>
                </a:lnTo>
                <a:lnTo>
                  <a:pt x="3133784" y="2534448"/>
                </a:lnTo>
                <a:lnTo>
                  <a:pt x="0" y="25344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7371981">
            <a:off x="3661275" y="1201736"/>
            <a:ext cx="1978618" cy="1558161"/>
          </a:xfrm>
          <a:custGeom>
            <a:avLst/>
            <a:gdLst/>
            <a:ahLst/>
            <a:cxnLst/>
            <a:rect l="l" t="t" r="r" b="b"/>
            <a:pathLst>
              <a:path w="1978618" h="1558161">
                <a:moveTo>
                  <a:pt x="0" y="0"/>
                </a:moveTo>
                <a:lnTo>
                  <a:pt x="1978618" y="0"/>
                </a:lnTo>
                <a:lnTo>
                  <a:pt x="1978618" y="1558162"/>
                </a:lnTo>
                <a:lnTo>
                  <a:pt x="0" y="15581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503882" y="1028700"/>
            <a:ext cx="3248964" cy="2452968"/>
          </a:xfrm>
          <a:custGeom>
            <a:avLst/>
            <a:gdLst/>
            <a:ahLst/>
            <a:cxnLst/>
            <a:rect l="l" t="t" r="r" b="b"/>
            <a:pathLst>
              <a:path w="3248964" h="2452968">
                <a:moveTo>
                  <a:pt x="0" y="0"/>
                </a:moveTo>
                <a:lnTo>
                  <a:pt x="3248964" y="0"/>
                </a:lnTo>
                <a:lnTo>
                  <a:pt x="3248964" y="2452968"/>
                </a:lnTo>
                <a:lnTo>
                  <a:pt x="0" y="24529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6162498">
            <a:off x="14010337" y="3567070"/>
            <a:ext cx="2644462" cy="3152861"/>
          </a:xfrm>
          <a:custGeom>
            <a:avLst/>
            <a:gdLst/>
            <a:ahLst/>
            <a:cxnLst/>
            <a:rect l="l" t="t" r="r" b="b"/>
            <a:pathLst>
              <a:path w="2644462" h="3152861">
                <a:moveTo>
                  <a:pt x="0" y="0"/>
                </a:moveTo>
                <a:lnTo>
                  <a:pt x="2644462" y="0"/>
                </a:lnTo>
                <a:lnTo>
                  <a:pt x="2644462" y="3152860"/>
                </a:lnTo>
                <a:lnTo>
                  <a:pt x="0" y="31528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548722" y="2560129"/>
            <a:ext cx="5513231" cy="421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459" b="1">
                <a:solidFill>
                  <a:srgbClr val="26131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부산 AI 10반 25조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48722" y="7526793"/>
            <a:ext cx="5513231" cy="1731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</a:pPr>
            <a:r>
              <a:rPr lang="en-US" sz="2459" b="1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김유찬     김도훈</a:t>
            </a:r>
          </a:p>
          <a:p>
            <a:pPr algn="ctr">
              <a:lnSpc>
                <a:spcPts val="3443"/>
              </a:lnSpc>
            </a:pPr>
            <a:r>
              <a:rPr lang="en-US" sz="2459" b="1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박주영     이승호</a:t>
            </a:r>
          </a:p>
          <a:p>
            <a:pPr algn="ctr">
              <a:lnSpc>
                <a:spcPts val="3443"/>
              </a:lnSpc>
            </a:pPr>
            <a:r>
              <a:rPr lang="en-US" sz="2459" b="1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윤명세      이호  </a:t>
            </a:r>
          </a:p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459" b="1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이재환     조성준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671710" y="1607185"/>
            <a:ext cx="7713366" cy="1412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0"/>
              </a:lnSpc>
            </a:pPr>
            <a:r>
              <a:rPr lang="en-US" sz="9353" b="1">
                <a:solidFill>
                  <a:srgbClr val="261310"/>
                </a:solidFill>
                <a:latin typeface="Grand Cru S Medium"/>
                <a:ea typeface="Grand Cru S Medium"/>
                <a:cs typeface="Grand Cru S Medium"/>
                <a:sym typeface="Grand Cru S Medium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1710" y="3812196"/>
            <a:ext cx="7049575" cy="294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33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01. 서비스 개요</a:t>
            </a:r>
          </a:p>
          <a:p>
            <a:pPr algn="l">
              <a:lnSpc>
                <a:spcPts val="4650"/>
              </a:lnSpc>
            </a:pPr>
            <a:endParaRPr lang="en-US" sz="3321">
              <a:solidFill>
                <a:srgbClr val="26131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4650"/>
              </a:lnSpc>
            </a:pPr>
            <a:r>
              <a:rPr lang="en-US" sz="33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02. 데이터 구조 설계</a:t>
            </a:r>
          </a:p>
          <a:p>
            <a:pPr algn="l">
              <a:lnSpc>
                <a:spcPts val="4650"/>
              </a:lnSpc>
            </a:pPr>
            <a:endParaRPr lang="en-US" sz="3321">
              <a:solidFill>
                <a:srgbClr val="26131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4650"/>
              </a:lnSpc>
            </a:pPr>
            <a:r>
              <a:rPr lang="en-US" sz="3321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03. UI 스케치 작성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703309" y="2089060"/>
            <a:ext cx="4058074" cy="6467050"/>
          </a:xfrm>
          <a:custGeom>
            <a:avLst/>
            <a:gdLst/>
            <a:ahLst/>
            <a:cxnLst/>
            <a:rect l="l" t="t" r="r" b="b"/>
            <a:pathLst>
              <a:path w="4058074" h="6467050">
                <a:moveTo>
                  <a:pt x="0" y="0"/>
                </a:moveTo>
                <a:lnTo>
                  <a:pt x="4058074" y="0"/>
                </a:lnTo>
                <a:lnTo>
                  <a:pt x="4058074" y="6467050"/>
                </a:lnTo>
                <a:lnTo>
                  <a:pt x="0" y="6467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3811138" y="2442822"/>
            <a:ext cx="10849005" cy="253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2"/>
              </a:lnSpc>
            </a:pPr>
            <a:r>
              <a:rPr lang="en-US"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01.</a:t>
            </a:r>
          </a:p>
          <a:p>
            <a:pPr algn="ctr">
              <a:lnSpc>
                <a:spcPts val="9932"/>
              </a:lnSpc>
            </a:pPr>
            <a:r>
              <a:rPr lang="en-US"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서비스 개요</a:t>
            </a:r>
          </a:p>
        </p:txBody>
      </p:sp>
      <p:sp>
        <p:nvSpPr>
          <p:cNvPr id="10" name="Freeform 10"/>
          <p:cNvSpPr/>
          <p:nvPr/>
        </p:nvSpPr>
        <p:spPr>
          <a:xfrm rot="-1928883">
            <a:off x="1199127" y="5082003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4"/>
                </a:lnTo>
                <a:lnTo>
                  <a:pt x="0" y="372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928883">
            <a:off x="1199127" y="1556156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3"/>
                </a:lnTo>
                <a:lnTo>
                  <a:pt x="0" y="372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928883">
            <a:off x="14032296" y="5082003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4"/>
                </a:lnTo>
                <a:lnTo>
                  <a:pt x="0" y="372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928883">
            <a:off x="14032296" y="1556156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3"/>
                </a:lnTo>
                <a:lnTo>
                  <a:pt x="0" y="372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157456" y="1586123"/>
            <a:ext cx="5395681" cy="7183643"/>
            <a:chOff x="0" y="0"/>
            <a:chExt cx="3663950" cy="4878070"/>
          </a:xfrm>
        </p:grpSpPr>
        <p:sp>
          <p:nvSpPr>
            <p:cNvPr id="10" name="Freeform 10"/>
            <p:cNvSpPr/>
            <p:nvPr/>
          </p:nvSpPr>
          <p:spPr>
            <a:xfrm>
              <a:off x="31750" y="31750"/>
              <a:ext cx="3600450" cy="4814570"/>
            </a:xfrm>
            <a:custGeom>
              <a:avLst/>
              <a:gdLst/>
              <a:ahLst/>
              <a:cxnLst/>
              <a:rect l="l" t="t" r="r" b="b"/>
              <a:pathLst>
                <a:path w="3600450" h="481457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2"/>
              <a:stretch>
                <a:fillRect l="-1399" r="-139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663950" cy="4878070"/>
            </a:xfrm>
            <a:custGeom>
              <a:avLst/>
              <a:gdLst/>
              <a:ahLst/>
              <a:cxnLst/>
              <a:rect l="l" t="t" r="r" b="b"/>
              <a:pathLst>
                <a:path w="3663950" h="487807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195759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28700" y="990600"/>
            <a:ext cx="8343950" cy="115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20"/>
              </a:lnSpc>
            </a:pPr>
            <a:r>
              <a:rPr lang="en-US" sz="7317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핵심 기능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42419" y="2799470"/>
            <a:ext cx="9355734" cy="449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도서 검색 기능 구현 (제목, 저자, ISBN 기반 검색 지원) </a:t>
            </a:r>
          </a:p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도서 대출 가능 여부 실시간 판단 및 상태 표시 </a:t>
            </a:r>
          </a:p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도서 상세정보 조회 기능 제공 </a:t>
            </a:r>
          </a:p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AI 기반 도서 표지 이미지 생성 기능 구현 </a:t>
            </a:r>
          </a:p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생성된 표지 이미지 미리보기 및 적용 지원 </a:t>
            </a:r>
          </a:p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사용자 편의성을 고려한 직관적인 UI/UX 구성 </a:t>
            </a:r>
          </a:p>
          <a:p>
            <a:pPr marL="602546" lvl="1" indent="-301273" algn="l">
              <a:lnSpc>
                <a:spcPts val="5135"/>
              </a:lnSpc>
              <a:buFont typeface="Arial"/>
              <a:buChar char="•"/>
            </a:pPr>
            <a:r>
              <a:rPr lang="en-US" sz="27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데이터 기반 도서 관리 및 정보 연동 기능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3811138" y="2347572"/>
            <a:ext cx="10849005" cy="253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2"/>
              </a:lnSpc>
            </a:pPr>
            <a:r>
              <a:rPr lang="en-US"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02.</a:t>
            </a:r>
          </a:p>
          <a:p>
            <a:pPr algn="ctr">
              <a:lnSpc>
                <a:spcPts val="9932"/>
              </a:lnSpc>
            </a:pPr>
            <a:r>
              <a:rPr lang="en-US"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데이터 구조 설계</a:t>
            </a:r>
          </a:p>
        </p:txBody>
      </p:sp>
      <p:sp>
        <p:nvSpPr>
          <p:cNvPr id="10" name="Freeform 10"/>
          <p:cNvSpPr/>
          <p:nvPr/>
        </p:nvSpPr>
        <p:spPr>
          <a:xfrm rot="-1928883">
            <a:off x="1199127" y="5082003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4"/>
                </a:lnTo>
                <a:lnTo>
                  <a:pt x="0" y="372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928883">
            <a:off x="1199127" y="1556156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3"/>
                </a:lnTo>
                <a:lnTo>
                  <a:pt x="0" y="372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928883">
            <a:off x="14032296" y="5082003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4"/>
                </a:lnTo>
                <a:lnTo>
                  <a:pt x="0" y="372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928883">
            <a:off x="14032296" y="1556156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3"/>
                </a:lnTo>
                <a:lnTo>
                  <a:pt x="0" y="372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802954" y="3340976"/>
            <a:ext cx="8602522" cy="4699127"/>
          </a:xfrm>
          <a:custGeom>
            <a:avLst/>
            <a:gdLst/>
            <a:ahLst/>
            <a:cxnLst/>
            <a:rect l="l" t="t" r="r" b="b"/>
            <a:pathLst>
              <a:path w="8602522" h="4699127">
                <a:moveTo>
                  <a:pt x="0" y="0"/>
                </a:moveTo>
                <a:lnTo>
                  <a:pt x="8602522" y="0"/>
                </a:lnTo>
                <a:lnTo>
                  <a:pt x="8602522" y="4699128"/>
                </a:lnTo>
                <a:lnTo>
                  <a:pt x="0" y="4699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773629" y="3340976"/>
            <a:ext cx="7485671" cy="4699127"/>
          </a:xfrm>
          <a:custGeom>
            <a:avLst/>
            <a:gdLst/>
            <a:ahLst/>
            <a:cxnLst/>
            <a:rect l="l" t="t" r="r" b="b"/>
            <a:pathLst>
              <a:path w="7485671" h="4699127">
                <a:moveTo>
                  <a:pt x="0" y="0"/>
                </a:moveTo>
                <a:lnTo>
                  <a:pt x="7485671" y="0"/>
                </a:lnTo>
                <a:lnTo>
                  <a:pt x="7485671" y="4699128"/>
                </a:lnTo>
                <a:lnTo>
                  <a:pt x="0" y="4699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94" r="-694" b="-94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000125"/>
            <a:ext cx="9861626" cy="978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34"/>
              </a:lnSpc>
            </a:pPr>
            <a:r>
              <a:rPr lang="en-US" sz="6217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데이터 구조 설계(db.json)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2954" y="2905692"/>
            <a:ext cx="8499865" cy="39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5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db.json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73629" y="2905692"/>
            <a:ext cx="8629059" cy="39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59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Json-Server 실행 화면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44695"/>
              </p:ext>
            </p:extLst>
          </p:nvPr>
        </p:nvGraphicFramePr>
        <p:xfrm>
          <a:off x="1133475" y="2122481"/>
          <a:ext cx="16087725" cy="7510010"/>
        </p:xfrm>
        <a:graphic>
          <a:graphicData uri="http://schemas.openxmlformats.org/drawingml/2006/table">
            <a:tbl>
              <a:tblPr/>
              <a:tblGrid>
                <a:gridCol w="2409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0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6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6612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Method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B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B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서비스명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B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API 이름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B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REST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B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363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GET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 관리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전체 도서 목록 조회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loadBooks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http://localhost:3000/books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2931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POST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 관리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 등록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handleFormSubmit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http://localhost:3000/books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2931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PATCH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 관리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수정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handleEditSubmit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http://localhost:3000/books/:id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2931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DELETE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 관리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도서 삭제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handleDeleteBook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http://localhost:3000/books/:id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3602"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POST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AI 이미지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AI 표지 생성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000000"/>
                          </a:solidFill>
                          <a:latin typeface="29LT Adir Bold"/>
                          <a:ea typeface="29LT Adir Bold"/>
                          <a:cs typeface="29LT Adir Bold"/>
                          <a:sym typeface="29LT Adir Bold"/>
                        </a:rPr>
                        <a:t>handleGenerateImage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https://api.openai.com/v1/images/generations </a:t>
                      </a:r>
                      <a:endParaRPr lang="en-US" sz="1100" dirty="0"/>
                    </a:p>
                    <a:p>
                      <a:pPr algn="ctr">
                        <a:lnSpc>
                          <a:spcPts val="3640"/>
                        </a:lnSpc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(※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내부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사용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 </a:t>
                      </a:r>
                      <a:r>
                        <a:rPr lang="en-US" sz="2600" dirty="0" err="1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모델</a:t>
                      </a:r>
                      <a:r>
                        <a:rPr lang="en-US" sz="2600" dirty="0">
                          <a:solidFill>
                            <a:srgbClr val="000000"/>
                          </a:solidFill>
                          <a:latin typeface="29LT Adir"/>
                          <a:ea typeface="29LT Adir"/>
                          <a:cs typeface="29LT Adir"/>
                          <a:sym typeface="29LT Adir"/>
                        </a:rPr>
                        <a:t>: gpt-image-2)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133475" y="819150"/>
            <a:ext cx="15122904" cy="95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12"/>
              </a:lnSpc>
            </a:pPr>
            <a:r>
              <a:rPr lang="en-US" sz="58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데이터</a:t>
            </a:r>
            <a:r>
              <a:rPr lang="en-US" sz="58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58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구조</a:t>
            </a:r>
            <a:r>
              <a:rPr lang="en-US" sz="58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58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설계</a:t>
            </a:r>
            <a:r>
              <a:rPr lang="en-US" sz="58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(API </a:t>
            </a:r>
            <a:r>
              <a:rPr lang="en-US" sz="58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엔드포인트</a:t>
            </a:r>
            <a:r>
              <a:rPr lang="en-US" sz="58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58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목록</a:t>
            </a:r>
            <a:r>
              <a:rPr lang="en-US" sz="58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58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정의</a:t>
            </a:r>
            <a:r>
              <a:rPr lang="en-US" sz="58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3811138" y="2347572"/>
            <a:ext cx="10849005" cy="2537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2"/>
              </a:lnSpc>
            </a:pPr>
            <a:r>
              <a:rPr lang="en-US"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03.</a:t>
            </a:r>
          </a:p>
          <a:p>
            <a:pPr algn="ctr">
              <a:lnSpc>
                <a:spcPts val="9932"/>
              </a:lnSpc>
            </a:pPr>
            <a:r>
              <a:rPr lang="en-US" sz="8346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UI 스케치 작성</a:t>
            </a:r>
          </a:p>
        </p:txBody>
      </p:sp>
      <p:sp>
        <p:nvSpPr>
          <p:cNvPr id="10" name="Freeform 10"/>
          <p:cNvSpPr/>
          <p:nvPr/>
        </p:nvSpPr>
        <p:spPr>
          <a:xfrm rot="-1928883">
            <a:off x="1199127" y="5082003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4"/>
                </a:lnTo>
                <a:lnTo>
                  <a:pt x="0" y="372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928883">
            <a:off x="1199127" y="1556156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3"/>
                </a:lnTo>
                <a:lnTo>
                  <a:pt x="0" y="372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928883">
            <a:off x="14032296" y="5082003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4"/>
                </a:lnTo>
                <a:lnTo>
                  <a:pt x="0" y="3727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1928883">
            <a:off x="14032296" y="1556156"/>
            <a:ext cx="3056578" cy="3727534"/>
          </a:xfrm>
          <a:custGeom>
            <a:avLst/>
            <a:gdLst/>
            <a:ahLst/>
            <a:cxnLst/>
            <a:rect l="l" t="t" r="r" b="b"/>
            <a:pathLst>
              <a:path w="3056578" h="3727534">
                <a:moveTo>
                  <a:pt x="0" y="0"/>
                </a:moveTo>
                <a:lnTo>
                  <a:pt x="3056577" y="0"/>
                </a:lnTo>
                <a:lnTo>
                  <a:pt x="3056577" y="3727533"/>
                </a:lnTo>
                <a:lnTo>
                  <a:pt x="0" y="3727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411152" y="4358469"/>
            <a:ext cx="1028340" cy="1028340"/>
            <a:chOff x="0" y="0"/>
            <a:chExt cx="1371120" cy="137112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02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751088" y="1969966"/>
            <a:ext cx="9975636" cy="5449191"/>
          </a:xfrm>
          <a:custGeom>
            <a:avLst/>
            <a:gdLst/>
            <a:ahLst/>
            <a:cxnLst/>
            <a:rect l="l" t="t" r="r" b="b"/>
            <a:pathLst>
              <a:path w="9975636" h="5449191">
                <a:moveTo>
                  <a:pt x="0" y="0"/>
                </a:moveTo>
                <a:lnTo>
                  <a:pt x="9975637" y="0"/>
                </a:lnTo>
                <a:lnTo>
                  <a:pt x="9975637" y="5449191"/>
                </a:lnTo>
                <a:lnTo>
                  <a:pt x="0" y="544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724825" y="4523982"/>
            <a:ext cx="7656437" cy="4974637"/>
          </a:xfrm>
          <a:custGeom>
            <a:avLst/>
            <a:gdLst/>
            <a:ahLst/>
            <a:cxnLst/>
            <a:rect l="l" t="t" r="r" b="b"/>
            <a:pathLst>
              <a:path w="7656437" h="4974637">
                <a:moveTo>
                  <a:pt x="0" y="0"/>
                </a:moveTo>
                <a:lnTo>
                  <a:pt x="7656437" y="0"/>
                </a:lnTo>
                <a:lnTo>
                  <a:pt x="7656437" y="4974637"/>
                </a:lnTo>
                <a:lnTo>
                  <a:pt x="0" y="4974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219926" y="754013"/>
            <a:ext cx="7848148" cy="964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33"/>
              </a:lnSpc>
            </a:pPr>
            <a:r>
              <a:rPr lang="en-US" sz="6524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초기 UI 스케치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89922" y="2668349"/>
            <a:ext cx="5513231" cy="858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</a:pPr>
            <a:r>
              <a:rPr lang="en-US" sz="2459" b="1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간단한 전자 도서관 구성을 모티브로,</a:t>
            </a:r>
          </a:p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459" b="1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메인 페이지와 상세 페이지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612312" y="2243314"/>
            <a:ext cx="11301259" cy="6130933"/>
          </a:xfrm>
          <a:custGeom>
            <a:avLst/>
            <a:gdLst/>
            <a:ahLst/>
            <a:cxnLst/>
            <a:rect l="l" t="t" r="r" b="b"/>
            <a:pathLst>
              <a:path w="11301259" h="6130933">
                <a:moveTo>
                  <a:pt x="0" y="0"/>
                </a:moveTo>
                <a:lnTo>
                  <a:pt x="11301259" y="0"/>
                </a:lnTo>
                <a:lnTo>
                  <a:pt x="11301259" y="6130933"/>
                </a:lnTo>
                <a:lnTo>
                  <a:pt x="0" y="6130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057275"/>
            <a:ext cx="88011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33"/>
              </a:lnSpc>
            </a:pPr>
            <a:r>
              <a:rPr lang="en-US" sz="6524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실행화면</a:t>
            </a:r>
            <a:r>
              <a:rPr lang="en-US" sz="6524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- </a:t>
            </a:r>
            <a:r>
              <a:rPr lang="en-US" sz="6524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메인</a:t>
            </a:r>
            <a:r>
              <a:rPr lang="en-US" sz="6524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6524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페이지</a:t>
            </a:r>
            <a:endParaRPr lang="en-US" sz="6524" b="1" dirty="0">
              <a:solidFill>
                <a:srgbClr val="261310"/>
              </a:solidFill>
              <a:latin typeface="Grand Cru S Bold"/>
              <a:ea typeface="Grand Cru S Bold"/>
              <a:cs typeface="Grand Cru S Bold"/>
              <a:sym typeface="Grand Cru 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796483" y="2557888"/>
            <a:ext cx="5929639" cy="581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GET 리퀘스트로 db.json에 있는 모든 책 정보를 불러옴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마우스를 책 위에 갖다 대면 (hover) 우측 사이드바에 정보 표시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책을 아이콘을 클릭하여 선택. 이후 수정, 반납/대여, 삭제 가능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검색 기능 구현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제목, 저자, 최근 등록일 기준 정렬 기능 구현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‘+ 신규 도서 등록하기‘ 버튼 클릭 시 새로운 도서 추가 가능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endParaRPr lang="en-US" sz="2759">
              <a:solidFill>
                <a:srgbClr val="FFFCF3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2198110" y="2243314"/>
            <a:ext cx="8784937" cy="6918138"/>
          </a:xfrm>
          <a:custGeom>
            <a:avLst/>
            <a:gdLst/>
            <a:ahLst/>
            <a:cxnLst/>
            <a:rect l="l" t="t" r="r" b="b"/>
            <a:pathLst>
              <a:path w="8784937" h="6918138">
                <a:moveTo>
                  <a:pt x="0" y="0"/>
                </a:moveTo>
                <a:lnTo>
                  <a:pt x="8784937" y="0"/>
                </a:lnTo>
                <a:lnTo>
                  <a:pt x="8784937" y="6918138"/>
                </a:lnTo>
                <a:lnTo>
                  <a:pt x="0" y="691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6541172"/>
            <a:ext cx="2732347" cy="1278489"/>
          </a:xfrm>
          <a:custGeom>
            <a:avLst/>
            <a:gdLst/>
            <a:ahLst/>
            <a:cxnLst/>
            <a:rect l="l" t="t" r="r" b="b"/>
            <a:pathLst>
              <a:path w="2732347" h="1278489">
                <a:moveTo>
                  <a:pt x="0" y="0"/>
                </a:moveTo>
                <a:lnTo>
                  <a:pt x="2732347" y="0"/>
                </a:lnTo>
                <a:lnTo>
                  <a:pt x="2732347" y="1278490"/>
                </a:lnTo>
                <a:lnTo>
                  <a:pt x="0" y="1278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TextBox 11"/>
          <p:cNvSpPr txBox="1"/>
          <p:nvPr/>
        </p:nvSpPr>
        <p:spPr>
          <a:xfrm>
            <a:off x="1028700" y="1057275"/>
            <a:ext cx="7986954" cy="964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3"/>
              </a:lnSpc>
            </a:pPr>
            <a:r>
              <a:rPr lang="en-US" sz="6524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실행화면 - 등록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89145" y="2279854"/>
            <a:ext cx="5126752" cy="581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도서 추가하기 버튼 클릭 시 POST 리퀘스트로 db.json에 새로운 정보 등록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뒤로가기, 취소 버튼으로 등록 작업 창 닫기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AI 이미지 미리보기 클릭 시, OpenAI Key 입력 lable 활성화.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OpenAI 키 입력 후 버튼 클릭 시 제목, 저자, 출판사, 도서 요약 설명을 기준으로 gpt-image-2 모델을 사용한 이미지 생성</a:t>
            </a:r>
          </a:p>
        </p:txBody>
      </p:sp>
      <p:sp>
        <p:nvSpPr>
          <p:cNvPr id="13" name="AutoShape 13"/>
          <p:cNvSpPr/>
          <p:nvPr/>
        </p:nvSpPr>
        <p:spPr>
          <a:xfrm flipH="1" flipV="1">
            <a:off x="2780607" y="7709317"/>
            <a:ext cx="661827" cy="735157"/>
          </a:xfrm>
          <a:prstGeom prst="line">
            <a:avLst/>
          </a:prstGeom>
          <a:ln w="857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2198110" y="2248805"/>
            <a:ext cx="8784937" cy="6907157"/>
          </a:xfrm>
          <a:custGeom>
            <a:avLst/>
            <a:gdLst/>
            <a:ahLst/>
            <a:cxnLst/>
            <a:rect l="l" t="t" r="r" b="b"/>
            <a:pathLst>
              <a:path w="8784937" h="6907157">
                <a:moveTo>
                  <a:pt x="0" y="0"/>
                </a:moveTo>
                <a:lnTo>
                  <a:pt x="8784937" y="0"/>
                </a:lnTo>
                <a:lnTo>
                  <a:pt x="8784937" y="6907157"/>
                </a:lnTo>
                <a:lnTo>
                  <a:pt x="0" y="6907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6702441"/>
            <a:ext cx="2704618" cy="1253643"/>
          </a:xfrm>
          <a:custGeom>
            <a:avLst/>
            <a:gdLst/>
            <a:ahLst/>
            <a:cxnLst/>
            <a:rect l="l" t="t" r="r" b="b"/>
            <a:pathLst>
              <a:path w="2704618" h="1253643">
                <a:moveTo>
                  <a:pt x="0" y="0"/>
                </a:moveTo>
                <a:lnTo>
                  <a:pt x="2704618" y="0"/>
                </a:lnTo>
                <a:lnTo>
                  <a:pt x="2704618" y="1253643"/>
                </a:lnTo>
                <a:lnTo>
                  <a:pt x="0" y="1253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AutoShape 11"/>
          <p:cNvSpPr/>
          <p:nvPr/>
        </p:nvSpPr>
        <p:spPr>
          <a:xfrm flipH="1" flipV="1">
            <a:off x="2688070" y="7848123"/>
            <a:ext cx="661827" cy="735157"/>
          </a:xfrm>
          <a:prstGeom prst="line">
            <a:avLst/>
          </a:prstGeom>
          <a:ln w="857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TextBox 12"/>
          <p:cNvSpPr txBox="1"/>
          <p:nvPr/>
        </p:nvSpPr>
        <p:spPr>
          <a:xfrm>
            <a:off x="1028700" y="1057275"/>
            <a:ext cx="7986954" cy="964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3"/>
              </a:lnSpc>
            </a:pPr>
            <a:r>
              <a:rPr lang="en-US" sz="6524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실행화면 - 수정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35414" y="3008516"/>
            <a:ext cx="5126752" cy="533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수정하기 버튼 클릭 시, PATCH 리퀘스트로, db.json 에 수정된 내용 저장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이미지 재생성 클릭 시 OpenAI API 키 입력란 활성화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r>
              <a:rPr lang="en-US" sz="2759">
                <a:solidFill>
                  <a:srgbClr val="FFFCF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OpenAI 키 값 입력 후 이미지 재생성 버튼 클릭 시, 제목, 저자, 출판사, 도서 요약 설명 바탕으로 gpt-image-2 모델로 이미지 재생성</a:t>
            </a:r>
          </a:p>
          <a:p>
            <a:pPr marL="595774" lvl="1" indent="-297887" algn="l">
              <a:lnSpc>
                <a:spcPts val="3863"/>
              </a:lnSpc>
              <a:buFont typeface="Arial"/>
              <a:buChar char="•"/>
            </a:pPr>
            <a:endParaRPr lang="en-US" sz="2759">
              <a:solidFill>
                <a:srgbClr val="FFFCF3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077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706673" y="2202552"/>
            <a:ext cx="5557579" cy="3271482"/>
          </a:xfrm>
          <a:custGeom>
            <a:avLst/>
            <a:gdLst/>
            <a:ahLst/>
            <a:cxnLst/>
            <a:rect l="l" t="t" r="r" b="b"/>
            <a:pathLst>
              <a:path w="5557579" h="3271482">
                <a:moveTo>
                  <a:pt x="0" y="0"/>
                </a:moveTo>
                <a:lnTo>
                  <a:pt x="5557578" y="0"/>
                </a:lnTo>
                <a:lnTo>
                  <a:pt x="5557578" y="3271482"/>
                </a:lnTo>
                <a:lnTo>
                  <a:pt x="0" y="3271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06673" y="6311564"/>
            <a:ext cx="5557579" cy="3245748"/>
          </a:xfrm>
          <a:custGeom>
            <a:avLst/>
            <a:gdLst/>
            <a:ahLst/>
            <a:cxnLst/>
            <a:rect l="l" t="t" r="r" b="b"/>
            <a:pathLst>
              <a:path w="5557579" h="3245748">
                <a:moveTo>
                  <a:pt x="0" y="0"/>
                </a:moveTo>
                <a:lnTo>
                  <a:pt x="5557578" y="0"/>
                </a:lnTo>
                <a:lnTo>
                  <a:pt x="5557578" y="3245748"/>
                </a:lnTo>
                <a:lnTo>
                  <a:pt x="0" y="3245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672223">
            <a:off x="6435098" y="5312177"/>
            <a:ext cx="3307190" cy="1624657"/>
          </a:xfrm>
          <a:custGeom>
            <a:avLst/>
            <a:gdLst/>
            <a:ahLst/>
            <a:cxnLst/>
            <a:rect l="l" t="t" r="r" b="b"/>
            <a:pathLst>
              <a:path w="3307190" h="1624657">
                <a:moveTo>
                  <a:pt x="0" y="0"/>
                </a:moveTo>
                <a:lnTo>
                  <a:pt x="3307191" y="0"/>
                </a:lnTo>
                <a:lnTo>
                  <a:pt x="3307191" y="1624657"/>
                </a:lnTo>
                <a:lnTo>
                  <a:pt x="0" y="16246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45240" y="5974467"/>
            <a:ext cx="3338355" cy="1048310"/>
          </a:xfrm>
          <a:custGeom>
            <a:avLst/>
            <a:gdLst/>
            <a:ahLst/>
            <a:cxnLst/>
            <a:rect l="l" t="t" r="r" b="b"/>
            <a:pathLst>
              <a:path w="3338355" h="1048310">
                <a:moveTo>
                  <a:pt x="0" y="0"/>
                </a:moveTo>
                <a:lnTo>
                  <a:pt x="3338355" y="0"/>
                </a:lnTo>
                <a:lnTo>
                  <a:pt x="3338355" y="1048310"/>
                </a:lnTo>
                <a:lnTo>
                  <a:pt x="0" y="1048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385" r="-32350" b="-207033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730615"/>
            <a:ext cx="7171321" cy="1008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1"/>
              </a:lnSpc>
            </a:pPr>
            <a:r>
              <a:rPr lang="en-US" sz="6397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실행 화면 - 삭제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06673" y="1947846"/>
            <a:ext cx="5513231" cy="403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459" b="1" dirty="0" err="1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기존</a:t>
            </a:r>
            <a:r>
              <a:rPr lang="en-US" sz="2459" b="1" dirty="0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59" b="1" dirty="0" err="1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형태</a:t>
            </a:r>
            <a:endParaRPr lang="en-US" sz="2459" b="1" dirty="0"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70759" y="5552725"/>
            <a:ext cx="1658523" cy="403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459" b="1" dirty="0" err="1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삭제</a:t>
            </a:r>
            <a:r>
              <a:rPr lang="en-US" sz="2459" b="1" dirty="0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59" b="1" dirty="0" err="1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수행</a:t>
            </a:r>
            <a:endParaRPr lang="en-US" sz="2459" b="1" dirty="0"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634027" y="6076880"/>
            <a:ext cx="1658523" cy="403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sz="2459" b="1" dirty="0" err="1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정상</a:t>
            </a:r>
            <a:r>
              <a:rPr lang="en-US" sz="2459" b="1" dirty="0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59" b="1" dirty="0" err="1"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수행</a:t>
            </a:r>
            <a:endParaRPr lang="en-US" sz="2459" b="1" dirty="0"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088370" y="2796440"/>
            <a:ext cx="6856770" cy="566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0773" lvl="1" indent="-285387" algn="l">
              <a:lnSpc>
                <a:spcPts val="3701"/>
              </a:lnSpc>
              <a:buFont typeface="Arial"/>
              <a:buChar char="•"/>
            </a:pPr>
            <a:endParaRPr dirty="0"/>
          </a:p>
          <a:p>
            <a:pPr marL="570773" lvl="1" indent="-285387" algn="l">
              <a:lnSpc>
                <a:spcPts val="3701"/>
              </a:lnSpc>
              <a:buFont typeface="Arial"/>
              <a:buChar char="•"/>
            </a:pP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도서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클릭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시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우측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상세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패널에서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선택한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도서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정보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확인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및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수정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/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대여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/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삭제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UI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제공</a:t>
            </a:r>
            <a:endParaRPr lang="en-US" sz="2643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3701"/>
              </a:lnSpc>
            </a:pPr>
            <a:endParaRPr lang="en-US" sz="2643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570773" lvl="1" indent="-285387" algn="l">
              <a:lnSpc>
                <a:spcPts val="3701"/>
              </a:lnSpc>
              <a:buFont typeface="Arial"/>
              <a:buChar char="•"/>
            </a:pP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삭제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버튼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클릭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시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선택한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도서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id를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기준으로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DELETE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요청을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보내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db.json에서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데이터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삭제</a:t>
            </a:r>
            <a:endParaRPr lang="en-US" sz="2643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3701"/>
              </a:lnSpc>
            </a:pPr>
            <a:endParaRPr lang="en-US" sz="2643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570773" lvl="1" indent="-285387" algn="l">
              <a:lnSpc>
                <a:spcPts val="3701"/>
              </a:lnSpc>
              <a:buFont typeface="Arial"/>
              <a:buChar char="•"/>
            </a:pP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삭제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성공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후 React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상태를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갱신하여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도서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목록과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상세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패널이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즉시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반영되도록</a:t>
            </a:r>
            <a:r>
              <a:rPr lang="en-US" sz="2643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2643" dirty="0" err="1">
                <a:latin typeface="Glacial Indifference"/>
                <a:ea typeface="Glacial Indifference"/>
                <a:cs typeface="Glacial Indifference"/>
                <a:sym typeface="Glacial Indifference"/>
              </a:rPr>
              <a:t>구현</a:t>
            </a:r>
            <a:endParaRPr lang="en-US" sz="2643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570773" lvl="1" indent="-285387" algn="l">
              <a:lnSpc>
                <a:spcPts val="3701"/>
              </a:lnSpc>
              <a:buFont typeface="Arial"/>
              <a:buChar char="•"/>
            </a:pPr>
            <a:endParaRPr lang="en-US" sz="2643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82484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2197492" y="1030544"/>
            <a:ext cx="13893016" cy="148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9"/>
              </a:lnSpc>
              <a:spcBef>
                <a:spcPct val="0"/>
              </a:spcBef>
            </a:pPr>
            <a:r>
              <a:rPr lang="en-US" sz="8578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역할 분담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96702" y="3108175"/>
            <a:ext cx="6112561" cy="2666791"/>
            <a:chOff x="0" y="0"/>
            <a:chExt cx="1609893" cy="7023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09893" cy="702365"/>
            </a:xfrm>
            <a:custGeom>
              <a:avLst/>
              <a:gdLst/>
              <a:ahLst/>
              <a:cxnLst/>
              <a:rect l="l" t="t" r="r" b="b"/>
              <a:pathLst>
                <a:path w="1609893" h="702365">
                  <a:moveTo>
                    <a:pt x="108924" y="0"/>
                  </a:moveTo>
                  <a:lnTo>
                    <a:pt x="1500969" y="0"/>
                  </a:lnTo>
                  <a:cubicBezTo>
                    <a:pt x="1529857" y="0"/>
                    <a:pt x="1557562" y="11476"/>
                    <a:pt x="1577990" y="31903"/>
                  </a:cubicBezTo>
                  <a:cubicBezTo>
                    <a:pt x="1598417" y="52330"/>
                    <a:pt x="1609893" y="80036"/>
                    <a:pt x="1609893" y="108924"/>
                  </a:cubicBezTo>
                  <a:lnTo>
                    <a:pt x="1609893" y="593441"/>
                  </a:lnTo>
                  <a:cubicBezTo>
                    <a:pt x="1609893" y="622329"/>
                    <a:pt x="1598417" y="650034"/>
                    <a:pt x="1577990" y="670462"/>
                  </a:cubicBezTo>
                  <a:cubicBezTo>
                    <a:pt x="1557562" y="690889"/>
                    <a:pt x="1529857" y="702365"/>
                    <a:pt x="1500969" y="702365"/>
                  </a:cubicBezTo>
                  <a:lnTo>
                    <a:pt x="108924" y="702365"/>
                  </a:lnTo>
                  <a:cubicBezTo>
                    <a:pt x="80036" y="702365"/>
                    <a:pt x="52330" y="690889"/>
                    <a:pt x="31903" y="670462"/>
                  </a:cubicBezTo>
                  <a:cubicBezTo>
                    <a:pt x="11476" y="650034"/>
                    <a:pt x="0" y="622329"/>
                    <a:pt x="0" y="593441"/>
                  </a:cubicBezTo>
                  <a:lnTo>
                    <a:pt x="0" y="108924"/>
                  </a:lnTo>
                  <a:cubicBezTo>
                    <a:pt x="0" y="80036"/>
                    <a:pt x="11476" y="52330"/>
                    <a:pt x="31903" y="31903"/>
                  </a:cubicBezTo>
                  <a:cubicBezTo>
                    <a:pt x="52330" y="11476"/>
                    <a:pt x="80036" y="0"/>
                    <a:pt x="108924" y="0"/>
                  </a:cubicBezTo>
                  <a:close/>
                </a:path>
              </a:pathLst>
            </a:custGeom>
            <a:solidFill>
              <a:srgbClr val="EBECE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09893" cy="749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97492" y="3108175"/>
            <a:ext cx="6112561" cy="2666791"/>
            <a:chOff x="0" y="0"/>
            <a:chExt cx="1609893" cy="7023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09893" cy="702365"/>
            </a:xfrm>
            <a:custGeom>
              <a:avLst/>
              <a:gdLst/>
              <a:ahLst/>
              <a:cxnLst/>
              <a:rect l="l" t="t" r="r" b="b"/>
              <a:pathLst>
                <a:path w="1609893" h="702365">
                  <a:moveTo>
                    <a:pt x="108924" y="0"/>
                  </a:moveTo>
                  <a:lnTo>
                    <a:pt x="1500969" y="0"/>
                  </a:lnTo>
                  <a:cubicBezTo>
                    <a:pt x="1529857" y="0"/>
                    <a:pt x="1557562" y="11476"/>
                    <a:pt x="1577990" y="31903"/>
                  </a:cubicBezTo>
                  <a:cubicBezTo>
                    <a:pt x="1598417" y="52330"/>
                    <a:pt x="1609893" y="80036"/>
                    <a:pt x="1609893" y="108924"/>
                  </a:cubicBezTo>
                  <a:lnTo>
                    <a:pt x="1609893" y="593441"/>
                  </a:lnTo>
                  <a:cubicBezTo>
                    <a:pt x="1609893" y="622329"/>
                    <a:pt x="1598417" y="650034"/>
                    <a:pt x="1577990" y="670462"/>
                  </a:cubicBezTo>
                  <a:cubicBezTo>
                    <a:pt x="1557562" y="690889"/>
                    <a:pt x="1529857" y="702365"/>
                    <a:pt x="1500969" y="702365"/>
                  </a:cubicBezTo>
                  <a:lnTo>
                    <a:pt x="108924" y="702365"/>
                  </a:lnTo>
                  <a:cubicBezTo>
                    <a:pt x="80036" y="702365"/>
                    <a:pt x="52330" y="690889"/>
                    <a:pt x="31903" y="670462"/>
                  </a:cubicBezTo>
                  <a:cubicBezTo>
                    <a:pt x="11476" y="650034"/>
                    <a:pt x="0" y="622329"/>
                    <a:pt x="0" y="593441"/>
                  </a:cubicBezTo>
                  <a:lnTo>
                    <a:pt x="0" y="108924"/>
                  </a:lnTo>
                  <a:cubicBezTo>
                    <a:pt x="0" y="80036"/>
                    <a:pt x="11476" y="52330"/>
                    <a:pt x="31903" y="31903"/>
                  </a:cubicBezTo>
                  <a:cubicBezTo>
                    <a:pt x="52330" y="11476"/>
                    <a:pt x="80036" y="0"/>
                    <a:pt x="108924" y="0"/>
                  </a:cubicBezTo>
                  <a:close/>
                </a:path>
              </a:pathLst>
            </a:custGeom>
            <a:solidFill>
              <a:srgbClr val="EBECE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609893" cy="749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97492" y="5900175"/>
            <a:ext cx="6112561" cy="2666791"/>
            <a:chOff x="0" y="0"/>
            <a:chExt cx="1609893" cy="7023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09893" cy="702365"/>
            </a:xfrm>
            <a:custGeom>
              <a:avLst/>
              <a:gdLst/>
              <a:ahLst/>
              <a:cxnLst/>
              <a:rect l="l" t="t" r="r" b="b"/>
              <a:pathLst>
                <a:path w="1609893" h="702365">
                  <a:moveTo>
                    <a:pt x="108924" y="0"/>
                  </a:moveTo>
                  <a:lnTo>
                    <a:pt x="1500969" y="0"/>
                  </a:lnTo>
                  <a:cubicBezTo>
                    <a:pt x="1529857" y="0"/>
                    <a:pt x="1557562" y="11476"/>
                    <a:pt x="1577990" y="31903"/>
                  </a:cubicBezTo>
                  <a:cubicBezTo>
                    <a:pt x="1598417" y="52330"/>
                    <a:pt x="1609893" y="80036"/>
                    <a:pt x="1609893" y="108924"/>
                  </a:cubicBezTo>
                  <a:lnTo>
                    <a:pt x="1609893" y="593441"/>
                  </a:lnTo>
                  <a:cubicBezTo>
                    <a:pt x="1609893" y="622329"/>
                    <a:pt x="1598417" y="650034"/>
                    <a:pt x="1577990" y="670462"/>
                  </a:cubicBezTo>
                  <a:cubicBezTo>
                    <a:pt x="1557562" y="690889"/>
                    <a:pt x="1529857" y="702365"/>
                    <a:pt x="1500969" y="702365"/>
                  </a:cubicBezTo>
                  <a:lnTo>
                    <a:pt x="108924" y="702365"/>
                  </a:lnTo>
                  <a:cubicBezTo>
                    <a:pt x="80036" y="702365"/>
                    <a:pt x="52330" y="690889"/>
                    <a:pt x="31903" y="670462"/>
                  </a:cubicBezTo>
                  <a:cubicBezTo>
                    <a:pt x="11476" y="650034"/>
                    <a:pt x="0" y="622329"/>
                    <a:pt x="0" y="593441"/>
                  </a:cubicBezTo>
                  <a:lnTo>
                    <a:pt x="0" y="108924"/>
                  </a:lnTo>
                  <a:cubicBezTo>
                    <a:pt x="0" y="80036"/>
                    <a:pt x="11476" y="52330"/>
                    <a:pt x="31903" y="31903"/>
                  </a:cubicBezTo>
                  <a:cubicBezTo>
                    <a:pt x="52330" y="11476"/>
                    <a:pt x="80036" y="0"/>
                    <a:pt x="108924" y="0"/>
                  </a:cubicBezTo>
                  <a:close/>
                </a:path>
              </a:pathLst>
            </a:custGeom>
            <a:solidFill>
              <a:srgbClr val="EBECEB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609893" cy="749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96702" y="5900175"/>
            <a:ext cx="6112561" cy="2666791"/>
            <a:chOff x="0" y="0"/>
            <a:chExt cx="1609893" cy="7023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09893" cy="702365"/>
            </a:xfrm>
            <a:custGeom>
              <a:avLst/>
              <a:gdLst/>
              <a:ahLst/>
              <a:cxnLst/>
              <a:rect l="l" t="t" r="r" b="b"/>
              <a:pathLst>
                <a:path w="1609893" h="702365">
                  <a:moveTo>
                    <a:pt x="108924" y="0"/>
                  </a:moveTo>
                  <a:lnTo>
                    <a:pt x="1500969" y="0"/>
                  </a:lnTo>
                  <a:cubicBezTo>
                    <a:pt x="1529857" y="0"/>
                    <a:pt x="1557562" y="11476"/>
                    <a:pt x="1577990" y="31903"/>
                  </a:cubicBezTo>
                  <a:cubicBezTo>
                    <a:pt x="1598417" y="52330"/>
                    <a:pt x="1609893" y="80036"/>
                    <a:pt x="1609893" y="108924"/>
                  </a:cubicBezTo>
                  <a:lnTo>
                    <a:pt x="1609893" y="593441"/>
                  </a:lnTo>
                  <a:cubicBezTo>
                    <a:pt x="1609893" y="622329"/>
                    <a:pt x="1598417" y="650034"/>
                    <a:pt x="1577990" y="670462"/>
                  </a:cubicBezTo>
                  <a:cubicBezTo>
                    <a:pt x="1557562" y="690889"/>
                    <a:pt x="1529857" y="702365"/>
                    <a:pt x="1500969" y="702365"/>
                  </a:cubicBezTo>
                  <a:lnTo>
                    <a:pt x="108924" y="702365"/>
                  </a:lnTo>
                  <a:cubicBezTo>
                    <a:pt x="80036" y="702365"/>
                    <a:pt x="52330" y="690889"/>
                    <a:pt x="31903" y="670462"/>
                  </a:cubicBezTo>
                  <a:cubicBezTo>
                    <a:pt x="11476" y="650034"/>
                    <a:pt x="0" y="622329"/>
                    <a:pt x="0" y="593441"/>
                  </a:cubicBezTo>
                  <a:lnTo>
                    <a:pt x="0" y="108924"/>
                  </a:lnTo>
                  <a:cubicBezTo>
                    <a:pt x="0" y="80036"/>
                    <a:pt x="11476" y="52330"/>
                    <a:pt x="31903" y="31903"/>
                  </a:cubicBezTo>
                  <a:cubicBezTo>
                    <a:pt x="52330" y="11476"/>
                    <a:pt x="80036" y="0"/>
                    <a:pt x="108924" y="0"/>
                  </a:cubicBezTo>
                  <a:close/>
                </a:path>
              </a:pathLst>
            </a:custGeom>
            <a:solidFill>
              <a:srgbClr val="EBECE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609893" cy="7499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14369" y="3603664"/>
            <a:ext cx="1866649" cy="186664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BD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134623" y="6515884"/>
            <a:ext cx="5600103" cy="536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7432" lvl="1" indent="-343716" algn="l">
              <a:lnSpc>
                <a:spcPts val="4457"/>
              </a:lnSpc>
              <a:buFont typeface="Arial"/>
              <a:buChar char="•"/>
            </a:pPr>
            <a:r>
              <a:rPr lang="en-US" sz="3184" b="1" u="sng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READ ME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444734" y="6300246"/>
            <a:ext cx="1866649" cy="186664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BD3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14369" y="6270155"/>
            <a:ext cx="1866649" cy="186664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BD3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44734" y="3665717"/>
            <a:ext cx="1866649" cy="186664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CDBD3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0655407" y="3876391"/>
            <a:ext cx="1445303" cy="1445303"/>
          </a:xfrm>
          <a:custGeom>
            <a:avLst/>
            <a:gdLst/>
            <a:ahLst/>
            <a:cxnLst/>
            <a:rect l="l" t="t" r="r" b="b"/>
            <a:pathLst>
              <a:path w="1445303" h="1445303">
                <a:moveTo>
                  <a:pt x="0" y="0"/>
                </a:moveTo>
                <a:lnTo>
                  <a:pt x="1445302" y="0"/>
                </a:lnTo>
                <a:lnTo>
                  <a:pt x="1445302" y="1445302"/>
                </a:lnTo>
                <a:lnTo>
                  <a:pt x="0" y="1445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2540705" y="3730000"/>
            <a:ext cx="1613976" cy="1613976"/>
          </a:xfrm>
          <a:custGeom>
            <a:avLst/>
            <a:gdLst/>
            <a:ahLst/>
            <a:cxnLst/>
            <a:rect l="l" t="t" r="r" b="b"/>
            <a:pathLst>
              <a:path w="1613976" h="1613976">
                <a:moveTo>
                  <a:pt x="0" y="0"/>
                </a:moveTo>
                <a:lnTo>
                  <a:pt x="1613976" y="0"/>
                </a:lnTo>
                <a:lnTo>
                  <a:pt x="1613976" y="1613976"/>
                </a:lnTo>
                <a:lnTo>
                  <a:pt x="0" y="1613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2662466" y="6515026"/>
            <a:ext cx="1376907" cy="1376907"/>
          </a:xfrm>
          <a:custGeom>
            <a:avLst/>
            <a:gdLst/>
            <a:ahLst/>
            <a:cxnLst/>
            <a:rect l="l" t="t" r="r" b="b"/>
            <a:pathLst>
              <a:path w="1376907" h="1376907">
                <a:moveTo>
                  <a:pt x="0" y="0"/>
                </a:moveTo>
                <a:lnTo>
                  <a:pt x="1376907" y="0"/>
                </a:lnTo>
                <a:lnTo>
                  <a:pt x="1376907" y="1376907"/>
                </a:lnTo>
                <a:lnTo>
                  <a:pt x="0" y="1376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590063" y="6445575"/>
            <a:ext cx="1575990" cy="1575990"/>
          </a:xfrm>
          <a:custGeom>
            <a:avLst/>
            <a:gdLst/>
            <a:ahLst/>
            <a:cxnLst/>
            <a:rect l="l" t="t" r="r" b="b"/>
            <a:pathLst>
              <a:path w="1575990" h="1575990">
                <a:moveTo>
                  <a:pt x="0" y="0"/>
                </a:moveTo>
                <a:lnTo>
                  <a:pt x="1575990" y="0"/>
                </a:lnTo>
                <a:lnTo>
                  <a:pt x="1575990" y="1575990"/>
                </a:lnTo>
                <a:lnTo>
                  <a:pt x="0" y="1575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4758241" y="4393945"/>
            <a:ext cx="4141809" cy="36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078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김도훈 / 이재환 / 김유찬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34623" y="3718835"/>
            <a:ext cx="5600103" cy="536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7432" lvl="1" indent="-343716" algn="l">
              <a:lnSpc>
                <a:spcPts val="4457"/>
              </a:lnSpc>
              <a:buFont typeface="Arial"/>
              <a:buChar char="•"/>
            </a:pPr>
            <a:r>
              <a:rPr lang="en-US" sz="3184" b="1" u="sng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UI/디자인 담당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43269" y="6515884"/>
            <a:ext cx="5221491" cy="536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7432" lvl="1" indent="-343716" algn="l">
              <a:lnSpc>
                <a:spcPts val="4457"/>
              </a:lnSpc>
              <a:buFont typeface="Arial"/>
              <a:buChar char="•"/>
            </a:pPr>
            <a:r>
              <a:rPr lang="en-US" sz="3184" b="1" u="sng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PM · 기획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758241" y="7155855"/>
            <a:ext cx="4141809" cy="36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078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박주영 / 윤명세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883110" y="7155855"/>
            <a:ext cx="4141809" cy="36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078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이호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343269" y="3718835"/>
            <a:ext cx="5221491" cy="536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7432" lvl="1" indent="-343716" algn="l">
              <a:lnSpc>
                <a:spcPts val="4457"/>
              </a:lnSpc>
              <a:buFont typeface="Arial"/>
              <a:buChar char="•"/>
            </a:pPr>
            <a:r>
              <a:rPr lang="en-US" sz="3184" b="1" u="sng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CRUD·OpenAI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883110" y="4393945"/>
            <a:ext cx="4141809" cy="36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2078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조성준, 이승호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2901025" y="51435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08252" y="2218248"/>
            <a:ext cx="12455548" cy="1707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860"/>
              </a:lnSpc>
              <a:spcBef>
                <a:spcPct val="0"/>
              </a:spcBef>
            </a:pPr>
            <a:r>
              <a:rPr lang="en-US" sz="99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소스코드</a:t>
            </a:r>
            <a:r>
              <a:rPr lang="en-US" sz="99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99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저장소</a:t>
            </a:r>
            <a:r>
              <a:rPr lang="en-US" sz="9900" b="1" dirty="0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 </a:t>
            </a:r>
            <a:r>
              <a:rPr lang="en-US" sz="99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주소</a:t>
            </a:r>
            <a:endParaRPr lang="en-US" sz="9900" b="1" dirty="0">
              <a:solidFill>
                <a:srgbClr val="261310"/>
              </a:solidFill>
              <a:latin typeface="Grand Cru S Bold"/>
              <a:ea typeface="Grand Cru S Bold"/>
              <a:cs typeface="Grand Cru S Bold"/>
              <a:sym typeface="Grand Cru 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10232" y="4462619"/>
            <a:ext cx="10820449" cy="680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1"/>
              </a:lnSpc>
            </a:pPr>
            <a:r>
              <a:rPr lang="en-US" sz="3943" b="1" u="sng">
                <a:solidFill>
                  <a:srgbClr val="FFFCF3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4" tooltip="https://github.com/joon0017/mproj04_aivle"/>
              </a:rPr>
              <a:t>https://github.com/joon0017/mproj04_aivle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2708252" y="2218248"/>
            <a:ext cx="11824408" cy="170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60"/>
              </a:lnSpc>
              <a:spcBef>
                <a:spcPct val="0"/>
              </a:spcBef>
            </a:pPr>
            <a:r>
              <a:rPr lang="en-US" sz="9900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트러블슈팅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827224" y="4827055"/>
            <a:ext cx="1028340" cy="1028340"/>
            <a:chOff x="0" y="0"/>
            <a:chExt cx="1371120" cy="137112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69524" y="4827055"/>
            <a:ext cx="1028340" cy="1028340"/>
            <a:chOff x="0" y="0"/>
            <a:chExt cx="1371120" cy="137112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02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827224" y="6128769"/>
            <a:ext cx="4404952" cy="248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 Git 협업 충돌 문제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팀원 간 같은 파일 수정으로 merge conflict 발생.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기능별 브랜치 전략 사용하여 공통 컴포넌트 역할 분리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69524" y="6128769"/>
            <a:ext cx="4438025" cy="149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대출 상태 중복 처리 문제.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대출 전 상태 검사 로직 추가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버튼 비활성화 처리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67288" y="4827055"/>
            <a:ext cx="1028340" cy="1028340"/>
            <a:chOff x="0" y="0"/>
            <a:chExt cx="1371120" cy="137112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03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058338" y="6093209"/>
            <a:ext cx="4842739" cy="297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코드 최적화가 이루어지지 않아 동일하거나 유사한 기능들이 여러 컴포넌트에 중복 구현됨.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기능 단위 분리 없이 개발을 진행하여 UI 로직과 CRUD 로직이 혼재되어 있었음.</a:t>
            </a:r>
          </a:p>
        </p:txBody>
      </p:sp>
      <p:sp>
        <p:nvSpPr>
          <p:cNvPr id="28" name="Freeform 28"/>
          <p:cNvSpPr/>
          <p:nvPr/>
        </p:nvSpPr>
        <p:spPr>
          <a:xfrm rot="4823377" flipH="1">
            <a:off x="13024014" y="927248"/>
            <a:ext cx="3168535" cy="3777688"/>
          </a:xfrm>
          <a:custGeom>
            <a:avLst/>
            <a:gdLst/>
            <a:ahLst/>
            <a:cxnLst/>
            <a:rect l="l" t="t" r="r" b="b"/>
            <a:pathLst>
              <a:path w="3168535" h="3777688">
                <a:moveTo>
                  <a:pt x="3168536" y="0"/>
                </a:moveTo>
                <a:lnTo>
                  <a:pt x="0" y="0"/>
                </a:lnTo>
                <a:lnTo>
                  <a:pt x="0" y="3777688"/>
                </a:lnTo>
                <a:lnTo>
                  <a:pt x="3168536" y="3777688"/>
                </a:lnTo>
                <a:lnTo>
                  <a:pt x="316853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86017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1553476" y="1134781"/>
            <a:ext cx="11978483" cy="151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sz="8799" b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회고(3일차)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345190" y="3396946"/>
            <a:ext cx="1028340" cy="1028340"/>
            <a:chOff x="0" y="0"/>
            <a:chExt cx="1371120" cy="137112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45190" y="5285657"/>
            <a:ext cx="1028340" cy="1028340"/>
            <a:chOff x="0" y="0"/>
            <a:chExt cx="1371120" cy="137112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345190" y="7056947"/>
            <a:ext cx="1028340" cy="1028340"/>
            <a:chOff x="0" y="0"/>
            <a:chExt cx="1371120" cy="137112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71120" cy="1371120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733382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733382"/>
                    </a:lnTo>
                    <a:cubicBezTo>
                      <a:pt x="43699" y="733382"/>
                      <a:pt x="79418" y="768721"/>
                      <a:pt x="79418" y="812800"/>
                    </a:cubicBezTo>
                    <a:lnTo>
                      <a:pt x="733382" y="812800"/>
                    </a:lnTo>
                    <a:cubicBezTo>
                      <a:pt x="733382" y="769101"/>
                      <a:pt x="768721" y="733382"/>
                      <a:pt x="812800" y="733382"/>
                    </a:cubicBezTo>
                    <a:lnTo>
                      <a:pt x="812800" y="79418"/>
                    </a:lnTo>
                    <a:cubicBezTo>
                      <a:pt x="769101" y="79418"/>
                      <a:pt x="733382" y="44079"/>
                      <a:pt x="733382" y="0"/>
                    </a:cubicBezTo>
                    <a:close/>
                  </a:path>
                </a:pathLst>
              </a:custGeom>
              <a:solidFill>
                <a:srgbClr val="76AB9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8100" y="-9525"/>
                <a:ext cx="736600" cy="7842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70201" y="102418"/>
              <a:ext cx="1230718" cy="121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699"/>
                </a:lnSpc>
                <a:spcBef>
                  <a:spcPct val="0"/>
                </a:spcBef>
              </a:pPr>
              <a:r>
                <a:rPr lang="en-US" sz="5499" b="1">
                  <a:solidFill>
                    <a:srgbClr val="261310"/>
                  </a:solidFill>
                  <a:latin typeface="29LT Adir Semi-Bold"/>
                  <a:ea typeface="29LT Adir Semi-Bold"/>
                  <a:cs typeface="29LT Adir Semi-Bold"/>
                  <a:sym typeface="29LT Adir Semi-Bold"/>
                </a:rPr>
                <a:t>03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2015151" y="1978696"/>
            <a:ext cx="4621479" cy="6613923"/>
          </a:xfrm>
          <a:custGeom>
            <a:avLst/>
            <a:gdLst/>
            <a:ahLst/>
            <a:cxnLst/>
            <a:rect l="l" t="t" r="r" b="b"/>
            <a:pathLst>
              <a:path w="4621479" h="6613923">
                <a:moveTo>
                  <a:pt x="0" y="0"/>
                </a:moveTo>
                <a:lnTo>
                  <a:pt x="4621479" y="0"/>
                </a:lnTo>
                <a:lnTo>
                  <a:pt x="4621479" y="6613923"/>
                </a:lnTo>
                <a:lnTo>
                  <a:pt x="0" y="6613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821205" y="3339796"/>
            <a:ext cx="7748488" cy="547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이번 프로젝트는 단순히 결과물을 만드는 것보다 협업과 문제 해결 과정 자체가 중요하다는 것을 느끼게 해준 경험이었다. 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6131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개발 과정에서 발생한 다양한 오류와 충돌을 해결하며 문제 분석 능력을 키울 수 있었고, 실제 서비스 개발 흐름을 간접적으로 경험할 수 있었다.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61310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261310"/>
                </a:solidFill>
                <a:latin typeface="Questrial"/>
                <a:ea typeface="Questrial"/>
                <a:cs typeface="Questrial"/>
                <a:sym typeface="Questrial"/>
              </a:rPr>
              <a:t>앞으로는 초기 설계 단계에서 구조를 더 체계적으로 잡고, 재사용 가능한 코드 작성과 사용자 중심 UI 설계에 더욱 신경 쓰며 프로젝트를 진행하고자 한다.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6131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D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1723" y="379852"/>
            <a:ext cx="17404553" cy="9527296"/>
            <a:chOff x="0" y="0"/>
            <a:chExt cx="23206071" cy="1270306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06071" cy="12703061"/>
              <a:chOff x="0" y="0"/>
              <a:chExt cx="4596479" cy="2516124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4596479" cy="2516124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516124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436706"/>
                    </a:lnTo>
                    <a:cubicBezTo>
                      <a:pt x="43699" y="2436706"/>
                      <a:pt x="79418" y="2472045"/>
                      <a:pt x="79418" y="2516124"/>
                    </a:cubicBezTo>
                    <a:lnTo>
                      <a:pt x="4517061" y="2516124"/>
                    </a:lnTo>
                    <a:cubicBezTo>
                      <a:pt x="4517061" y="2472425"/>
                      <a:pt x="4552400" y="2436706"/>
                      <a:pt x="4596479" y="2436706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ln w="19050" cap="sq">
                <a:solidFill>
                  <a:srgbClr val="26131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38100" y="-9525"/>
                <a:ext cx="4520279" cy="24875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170293" y="192716"/>
              <a:ext cx="22836362" cy="12317628"/>
              <a:chOff x="0" y="0"/>
              <a:chExt cx="4596479" cy="24792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96479" cy="2479279"/>
              </a:xfrm>
              <a:custGeom>
                <a:avLst/>
                <a:gdLst/>
                <a:ahLst/>
                <a:cxnLst/>
                <a:rect l="l" t="t" r="r" b="b"/>
                <a:pathLst>
                  <a:path w="4596479" h="2479279">
                    <a:moveTo>
                      <a:pt x="4517061" y="0"/>
                    </a:moveTo>
                    <a:lnTo>
                      <a:pt x="79418" y="0"/>
                    </a:lnTo>
                    <a:cubicBezTo>
                      <a:pt x="79418" y="43699"/>
                      <a:pt x="44079" y="79418"/>
                      <a:pt x="0" y="79418"/>
                    </a:cubicBezTo>
                    <a:lnTo>
                      <a:pt x="0" y="2399861"/>
                    </a:lnTo>
                    <a:cubicBezTo>
                      <a:pt x="43699" y="2399861"/>
                      <a:pt x="79418" y="2435200"/>
                      <a:pt x="79418" y="2479279"/>
                    </a:cubicBezTo>
                    <a:lnTo>
                      <a:pt x="4517061" y="2479279"/>
                    </a:lnTo>
                    <a:cubicBezTo>
                      <a:pt x="4517061" y="2435580"/>
                      <a:pt x="4552400" y="2399861"/>
                      <a:pt x="4596479" y="2399861"/>
                    </a:cubicBezTo>
                    <a:lnTo>
                      <a:pt x="4596479" y="79418"/>
                    </a:lnTo>
                    <a:cubicBezTo>
                      <a:pt x="4552780" y="79418"/>
                      <a:pt x="4517061" y="44079"/>
                      <a:pt x="4517061" y="0"/>
                    </a:cubicBezTo>
                    <a:close/>
                  </a:path>
                </a:pathLst>
              </a:custGeom>
              <a:solidFill>
                <a:srgbClr val="F8F2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38100" y="-9525"/>
                <a:ext cx="4520279" cy="24507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4562952" y="4114423"/>
            <a:ext cx="9140251" cy="1877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59"/>
              </a:lnSpc>
            </a:pPr>
            <a:r>
              <a:rPr lang="en-US" sz="14100" b="1" dirty="0" err="1">
                <a:solidFill>
                  <a:srgbClr val="261310"/>
                </a:solidFill>
                <a:latin typeface="Grand Cru S Bold"/>
                <a:ea typeface="Grand Cru S Bold"/>
                <a:cs typeface="Grand Cru S Bold"/>
                <a:sym typeface="Grand Cru S Bold"/>
              </a:rPr>
              <a:t>감사합니다</a:t>
            </a:r>
            <a:endParaRPr lang="en-US" sz="14100" b="1" dirty="0">
              <a:solidFill>
                <a:srgbClr val="261310"/>
              </a:solidFill>
              <a:latin typeface="Grand Cru S Bold"/>
              <a:ea typeface="Grand Cru S Bold"/>
              <a:cs typeface="Grand Cru S Bold"/>
              <a:sym typeface="Grand Cru 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652</Words>
  <Application>Microsoft Office PowerPoint</Application>
  <PresentationFormat>사용자 지정</PresentationFormat>
  <Paragraphs>125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0" baseType="lpstr">
      <vt:lpstr>29LT Adir</vt:lpstr>
      <vt:lpstr>Grand Cru S Medium</vt:lpstr>
      <vt:lpstr>Questrial</vt:lpstr>
      <vt:lpstr>Glacial Indifference Bold</vt:lpstr>
      <vt:lpstr>Arial</vt:lpstr>
      <vt:lpstr>Glacial Indifference</vt:lpstr>
      <vt:lpstr>Grand Cru S Bold</vt:lpstr>
      <vt:lpstr>Grand Cru S Ultra-Bold</vt:lpstr>
      <vt:lpstr>29LT Adir Bold</vt:lpstr>
      <vt:lpstr>Calibri</vt:lpstr>
      <vt:lpstr>29LT Adir Semi-Bold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[템플릿] AI_##조.pptx</dc:title>
  <dc:creator>User</dc:creator>
  <cp:lastModifiedBy>윤명세</cp:lastModifiedBy>
  <cp:revision>3</cp:revision>
  <dcterms:created xsi:type="dcterms:W3CDTF">2006-08-16T00:00:00Z</dcterms:created>
  <dcterms:modified xsi:type="dcterms:W3CDTF">2026-05-29T01:56:35Z</dcterms:modified>
  <dc:identifier>DAHKuD58hr4</dc:identifier>
</cp:coreProperties>
</file>