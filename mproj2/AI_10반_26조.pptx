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4384000" cy="13716000"/>
  <p:notesSz cx="6858000" cy="9144000"/>
  <p:embeddedFontLst>
    <p:embeddedFont>
      <p:font typeface="Pretendard Medium"/>
      <p:bold r:id="rId17"/>
    </p:embeddedFont>
    <p:embeddedFont>
      <p:font typeface="Pretendard SemiBold"/>
      <p:bold r:id="rId18"/>
    </p:embeddedFont>
    <p:embeddedFont>
      <p:font typeface="Pretendard Black"/>
      <p:bold r:id="rId19"/>
    </p:embeddedFont>
    <p:embeddedFont>
      <p:font typeface="Pretendard ExtraBold"/>
      <p:bold r:id="rId20"/>
    </p:embeddedFont>
    <p:embeddedFont>
      <p:font typeface="Pretendard Light"/>
      <p:regular r:id="rId21"/>
    </p:embeddedFont>
    <p:embeddedFont>
      <p:font typeface="THEAlienmiri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.fntdata" Type="http://schemas.openxmlformats.org/officeDocument/2006/relationships/font"/><Relationship Id="rId18" Target="fonts/font2.fntdata" Type="http://schemas.openxmlformats.org/officeDocument/2006/relationships/font"/><Relationship Id="rId19" Target="fonts/font3.fntdata" Type="http://schemas.openxmlformats.org/officeDocument/2006/relationships/font"/><Relationship Id="rId2" Target="presProps.xml" Type="http://schemas.openxmlformats.org/officeDocument/2006/relationships/presProps"/><Relationship Id="rId20" Target="fonts/font4.fntdata" Type="http://schemas.openxmlformats.org/officeDocument/2006/relationships/font"/><Relationship Id="rId21" Target="fonts/font5.fntdata" Type="http://schemas.openxmlformats.org/officeDocument/2006/relationships/font"/><Relationship Id="rId22" Target="fonts/font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2" Target="../media/image1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7.png" Type="http://schemas.openxmlformats.org/officeDocument/2006/relationships/image"/><Relationship Id="rId4" Target="https://drive.google.com/file/d/1A5B3CNEy2qbhSV9ShTRhhx08bTeajEjh/view?usp=drive_link" TargetMode="External" Type="http://schemas.openxmlformats.org/officeDocument/2006/relationships/hyperlink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n96k4StbAf.mp4" Type="http://schemas.microsoft.com/office/2007/relationships/media"/><Relationship Id="rId8" Target="../media/n96k4StbAf.mp4" Type="http://schemas.openxmlformats.org/officeDocument/2006/relationships/video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2" Target="../media/image11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045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02300" y="7962900"/>
            <a:ext cx="51435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8100" y="13589000"/>
            <a:ext cx="24447500" cy="127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79200" y="901700"/>
            <a:ext cx="1701800" cy="355600"/>
          </a:xfrm>
          <a:prstGeom prst="rect">
            <a:avLst/>
          </a:prstGeom>
        </p:spPr>
        <p:txBody>
          <a:bodyPr anchor="t" rtlCol="false" lIns="0" tIns="54610" rIns="0" bIns="0"/>
          <a:lstStyle/>
          <a:p>
            <a:pPr algn="l" lvl="0">
              <a:lnSpc>
                <a:spcPct val="80509"/>
              </a:lnSpc>
            </a:pPr>
            <a:r>
              <a:rPr lang="en-US" sz="2000" b="false" i="false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2026. 04. 28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2781300"/>
            <a:ext cx="15138400" cy="4559300"/>
          </a:xfrm>
          <a:prstGeom prst="rect">
            <a:avLst/>
          </a:prstGeom>
        </p:spPr>
        <p:txBody>
          <a:bodyPr anchor="t" rtlCol="false" lIns="0" tIns="203940" rIns="0" bIns="0"/>
          <a:lstStyle/>
          <a:p>
            <a:pPr algn="l" lvl="0">
              <a:lnSpc>
                <a:spcPct val="97109"/>
              </a:lnSpc>
            </a:pPr>
            <a:r>
              <a:rPr lang="en-US" sz="13963" b="false" i="false" u="none" strike="noStrike" cap="all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미니프로젝트 2차</a:t>
            </a:r>
          </a:p>
          <a:p>
            <a:pPr algn="l" lvl="0">
              <a:lnSpc>
                <a:spcPct val="97109"/>
              </a:lnSpc>
            </a:pPr>
            <a:r>
              <a:rPr lang="en-US" sz="13963" b="false" i="false" u="none" strike="noStrike" cap="all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조별 발표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7620000"/>
            <a:ext cx="3860800" cy="9525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l" lvl="0">
              <a:lnSpc>
                <a:spcPct val="99600"/>
              </a:lnSpc>
            </a:pPr>
            <a:r>
              <a:rPr lang="en-US" sz="5333" b="false" i="false" u="none" strike="noStrike" spc="-300">
                <a:solidFill>
                  <a:srgbClr val="30AEAA"/>
                </a:solidFill>
                <a:latin typeface="Pretendard SemiBold"/>
                <a:ea typeface="Pretendard SemiBold"/>
                <a:cs typeface="Pretendard SemiBold"/>
              </a:rPr>
              <a:t>AI 10반 26조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812800"/>
            <a:ext cx="19304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259800" y="12242800"/>
            <a:ext cx="2717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2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356100" y="5549900"/>
            <a:ext cx="4025900" cy="261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08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614400" y="2120900"/>
            <a:ext cx="2590800" cy="711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560800" y="1993900"/>
            <a:ext cx="4076700" cy="952500"/>
          </a:xfrm>
          <a:prstGeom prst="rect">
            <a:avLst/>
          </a:prstGeom>
        </p:spPr>
        <p:txBody>
          <a:bodyPr anchor="t" rtlCol="false" lIns="0" tIns="122444" rIns="0" bIns="0"/>
          <a:lstStyle/>
          <a:p>
            <a:pPr algn="l" lvl="0">
              <a:lnSpc>
                <a:spcPct val="86320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09700" y="2222500"/>
            <a:ext cx="172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8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Content 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614400" y="4216400"/>
            <a:ext cx="2590800" cy="711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560800" y="4089400"/>
            <a:ext cx="6654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프로젝트 진행 &amp; 분업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06500" y="4318000"/>
            <a:ext cx="23368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8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Content 2-1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52500" y="6261100"/>
            <a:ext cx="2578100" cy="7112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881100" y="6362700"/>
            <a:ext cx="2311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8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Content 2-2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86200" y="6134100"/>
            <a:ext cx="15621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761700" y="241300"/>
            <a:ext cx="355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86200" y="8166100"/>
            <a:ext cx="2235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개선점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37000" y="10160000"/>
            <a:ext cx="1587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부록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52500" y="8280400"/>
            <a:ext cx="2578100" cy="711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855700" y="8394700"/>
            <a:ext cx="2311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8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Content 2-3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77900" y="10274300"/>
            <a:ext cx="2527300" cy="7112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033500" y="10388600"/>
            <a:ext cx="19558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8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Content 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3799800" y="215900"/>
            <a:ext cx="355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400" y="355600"/>
            <a:ext cx="7683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2400" y="2882900"/>
            <a:ext cx="100838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27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기반 강의 생성 및 자동 영상 제작 Agent 시스템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17900" y="4406900"/>
            <a:ext cx="10655300" cy="217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프레젠테이션 자료 분석</a:t>
            </a:r>
          </a:p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 기반 강의 스크립트&amp;음성&amp;영상 생성</a:t>
            </a:r>
          </a:p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gradio 웹 서비스 제공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17900" y="7226300"/>
            <a:ext cx="11150600" cy="217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강의 콘텐츠 자동 생성 (Text → Script → Voice → Video)</a:t>
            </a:r>
          </a:p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강의 흐름을 이해하는 Ai Agent 구조 설계</a:t>
            </a:r>
          </a:p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웹 기반 인터페이스로 사용자 접근성 확보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2882900"/>
            <a:ext cx="1447800" cy="685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19200" y="2946400"/>
            <a:ext cx="8255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7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38200" y="4381500"/>
            <a:ext cx="2171700" cy="685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93800" y="4445000"/>
            <a:ext cx="1625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3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주요 기능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8200" y="7226300"/>
            <a:ext cx="1752600" cy="685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333500" y="7277100"/>
            <a:ext cx="8763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3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특징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98500" y="10375900"/>
            <a:ext cx="3683000" cy="685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779500" y="10439400"/>
            <a:ext cx="3213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7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Our team's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17900" y="10375900"/>
            <a:ext cx="7556500" cy="217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사내 교육의 자동화 &gt;  </a:t>
            </a:r>
            <a:b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</a:b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즉시성(빠른 반영), 효율성(인력 비용절감), 표준화(품질의 균일화)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38200" y="10337800"/>
            <a:ext cx="2070100" cy="685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117600" y="10401300"/>
            <a:ext cx="16764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3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기대 효과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25500" y="11404600"/>
            <a:ext cx="101473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57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효율적인 </a:t>
            </a:r>
            <a:r>
              <a:rPr lang="en-US" sz="328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협업 체계 구축</a:t>
            </a:r>
            <a:r>
              <a:rPr lang="en-US" sz="328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을 통한 프로젝트 생산성 극대화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106934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2-1. 프로젝트 진행 &amp; 분업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73600" y="5537200"/>
            <a:ext cx="11620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5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노드 함수를 구현하는 과정을 단계별로 정의. 각 조원은 정의된 단계를 참고하여 노드 함수를 작성.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0900" y="4940300"/>
            <a:ext cx="4178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60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[노드 함수 작성 규칙 설정]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749800" y="6108700"/>
            <a:ext cx="11074400" cy="774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41900" y="6197600"/>
            <a:ext cx="43561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4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1. 스테이트 전체 구조 통일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749800" y="7048500"/>
            <a:ext cx="11074400" cy="774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041900" y="7137400"/>
            <a:ext cx="10718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8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2. 구체적인 입력(Input-State)과 출력(Output-State) 정확하게 설정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749800" y="7988300"/>
            <a:ext cx="11074400" cy="774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029200" y="8089900"/>
            <a:ext cx="68072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4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3. 내부 로직 구분 (llm.invoke 사용 유무)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749800" y="8978900"/>
            <a:ext cx="11074400" cy="774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029200" y="9080500"/>
            <a:ext cx="86868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4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4. 노드 함수 흐름 반영 (그래프상 해당 노드의 위치 확인)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16900" y="2933700"/>
            <a:ext cx="58928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74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Top-Down 방식 채택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642100" y="2286000"/>
            <a:ext cx="2235200" cy="2057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749800" y="10858500"/>
            <a:ext cx="3365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55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[노드 함수 작성 흐름]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49800" y="11633200"/>
            <a:ext cx="3162300" cy="736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965700" y="11785600"/>
            <a:ext cx="2819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17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 준비 구문 작성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72600" y="11620500"/>
            <a:ext cx="2476500" cy="736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9867900" y="11760200"/>
            <a:ext cx="1765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12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메시지 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58200" y="11722100"/>
            <a:ext cx="482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0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→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95200" y="11722100"/>
            <a:ext cx="482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0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→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09600" y="11595100"/>
            <a:ext cx="2984500" cy="7366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3690600" y="11747500"/>
            <a:ext cx="2400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12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llm.invoke() 호출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52900" y="11722100"/>
            <a:ext cx="482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0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→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767300" y="11620500"/>
            <a:ext cx="4114800" cy="7366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8084800" y="11760200"/>
            <a:ext cx="36576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12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코드 결과로 State 업데이트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5092700"/>
            <a:ext cx="1028700" cy="546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6802100" y="51435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이승호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5727700"/>
            <a:ext cx="1028700" cy="546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6802100" y="57785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손가영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6426200"/>
            <a:ext cx="1028700" cy="5461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6802100" y="64770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김유찬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7112000"/>
            <a:ext cx="1028700" cy="5461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6802100" y="71755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이채현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7797800"/>
            <a:ext cx="1028700" cy="5461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6802100" y="78613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윤명세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8483600"/>
            <a:ext cx="1028700" cy="5461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6802100" y="85471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박승원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9169400"/>
            <a:ext cx="1028700" cy="5461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16802100" y="92329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류연우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87800" y="9855200"/>
            <a:ext cx="1028700" cy="5461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6802100" y="9906000"/>
            <a:ext cx="952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39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박주영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868900" y="5143500"/>
            <a:ext cx="32512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조장, 발표자 / State 관리자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945100" y="5816600"/>
            <a:ext cx="3009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발표자, 검토담당자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805400" y="6527800"/>
            <a:ext cx="3390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PPT 제작 / Graph 관리자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694400" y="7162800"/>
            <a:ext cx="1333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PPT 제작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694400" y="7861300"/>
            <a:ext cx="1333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PPT 제작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821400" y="8547100"/>
            <a:ext cx="1066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타임키퍼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805400" y="9232900"/>
            <a:ext cx="31496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서기 / Graph 관리자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681700" y="9906000"/>
            <a:ext cx="1333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검토담당자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815300" y="5105400"/>
            <a:ext cx="2971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영상제작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1234400" y="5791200"/>
            <a:ext cx="2120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강의 스크립트생성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0764500" y="6489700"/>
            <a:ext cx="30734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정보분해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488400" y="7162800"/>
            <a:ext cx="16256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 프롬프트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1196300" y="7848600"/>
            <a:ext cx="21971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페이지별 내용 생성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1767800" y="8572500"/>
            <a:ext cx="1066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음성변환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0764500" y="9258300"/>
            <a:ext cx="30734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정보분해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1767800" y="9918700"/>
            <a:ext cx="1066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3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반추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1031200" y="4648200"/>
            <a:ext cx="2603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53" b="false" i="false" u="none" strike="noStrike">
                <a:solidFill>
                  <a:srgbClr val="000000"/>
                </a:solidFill>
                <a:highlight>
                  <a:srgbClr val="B8E9FF"/>
                </a:highlight>
                <a:latin typeface="Pretendard Medium"/>
                <a:ea typeface="Pretendard Medium"/>
                <a:cs typeface="Pretendard Medium"/>
              </a:rPr>
              <a:t>작성 노드 함수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957800" y="4622800"/>
            <a:ext cx="28321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1" b="false" i="false" u="none" strike="noStrike">
                <a:solidFill>
                  <a:srgbClr val="000000"/>
                </a:solidFill>
                <a:highlight>
                  <a:srgbClr val="B8E9FF"/>
                </a:highlight>
                <a:latin typeface="Pretendard Medium"/>
                <a:ea typeface="Pretendard Medium"/>
                <a:cs typeface="Pretendard Medium"/>
              </a:rPr>
              <a:t>역할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383000" y="4203700"/>
            <a:ext cx="7340600" cy="67437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2100" y="1943100"/>
            <a:ext cx="4178300" cy="11404600"/>
          </a:xfrm>
          <a:prstGeom prst="rect">
            <a:avLst/>
          </a:prstGeom>
        </p:spPr>
      </p:pic>
      <p:sp>
        <p:nvSpPr>
          <p:cNvPr name="TextBox 64" id="64"/>
          <p:cNvSpPr txBox="true"/>
          <p:nvPr/>
        </p:nvSpPr>
        <p:spPr>
          <a:xfrm rot="0">
            <a:off x="23787100" y="203200"/>
            <a:ext cx="3683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3787100" y="203200"/>
            <a:ext cx="355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400" y="381000"/>
            <a:ext cx="7683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2-2. 결과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35100" y="1955800"/>
            <a:ext cx="4051300" cy="11417300"/>
          </a:xfrm>
          <a:prstGeom prst="rect">
            <a:avLst/>
          </a:prstGeom>
        </p:spPr>
      </p:pic>
      <p:sp>
        <p:nvSpPr>
          <p:cNvPr name="TextBox 6" id="6">
            <a:hlinkClick r:id="rId4" tooltip="https://drive.google.com/file/d/1A5B3CNEy2qbhSV9ShTRhhx08bTeajEjh/view?usp=drive_link"/>
          </p:cNvPr>
          <p:cNvSpPr txBox="true"/>
          <p:nvPr/>
        </p:nvSpPr>
        <p:spPr>
          <a:xfrm rot="0">
            <a:off x="8763000" y="10934700"/>
            <a:ext cx="13779500" cy="184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50" b="false" i="false" u="sng" strike="noStrike">
                <a:solidFill>
                  <a:srgbClr val="1187CF"/>
                </a:solidFill>
                <a:latin typeface="Pretendard Medium"/>
                <a:ea typeface="Pretendard Medium"/>
                <a:cs typeface="Pretendard Medium"/>
              </a:rPr>
              <a:t>https://drive.google.com/file/d/1sDYP9dHI1nAaL89XhCNq_7-v_nBavM__/view?usp=sharing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04000" y="11163300"/>
            <a:ext cx="2019300" cy="201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518400" y="2349500"/>
            <a:ext cx="3365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55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[완성된 동영상]</a:t>
            </a:r>
          </a:p>
        </p:txBody>
      </p:sp>
      <p:pic>
        <p:nvPicPr>
          <p:cNvPr name="Picture 9" id="9">
            <a:hlinkClick r:id=""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>
                  <p14:trim st="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 rot="0">
            <a:off x="7607300" y="3200400"/>
            <a:ext cx="13779500" cy="774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9207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2-2. 결과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74400" y="228600"/>
            <a:ext cx="355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2286000"/>
            <a:ext cx="52451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■ gradio  웹 서비스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0" y="2057400"/>
            <a:ext cx="8394700" cy="11074400"/>
          </a:xfrm>
          <a:prstGeom prst="rect">
            <a:avLst/>
          </a:prstGeom>
          <a:effectLst>
            <a:outerShdw dir="2820000" dist="322766" blurRad="629394">
              <a:srgbClr val="000000">
                <a:alpha val="16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16687800" y="850900"/>
            <a:ext cx="54229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776" b="true" i="false" u="none" strike="noStrike">
                <a:solidFill>
                  <a:srgbClr val="30AEAA"/>
                </a:solidFill>
                <a:latin typeface="Pretendard Medium"/>
                <a:ea typeface="Pretendard Medium"/>
                <a:cs typeface="Pretendard Medium"/>
              </a:rPr>
              <a:t>추가 기능 구현 - 반추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3289300"/>
            <a:ext cx="12446000" cy="7429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05600" y="11099800"/>
            <a:ext cx="2197100" cy="558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62000" y="10985500"/>
            <a:ext cx="14173200" cy="214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26" b="tru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반추 기능</a:t>
            </a:r>
          </a:p>
          <a:p>
            <a:pPr algn="ctr" lvl="0">
              <a:lnSpc>
                <a:spcPct val="116199"/>
              </a:lnSpc>
            </a:pPr>
            <a:r>
              <a:rPr lang="en-US" sz="4026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AI가 생성한 스크립트를 스스로 평가</a:t>
            </a:r>
          </a:p>
          <a:p>
            <a:pPr algn="ctr" lvl="0">
              <a:lnSpc>
                <a:spcPct val="116199"/>
              </a:lnSpc>
            </a:pPr>
            <a:r>
              <a:rPr lang="en-US" sz="4026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잘못된 정보 혹은 부족한 설명을 채워 자동으로 성능 향샹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9207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2-3. 개선점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74400" y="228600"/>
            <a:ext cx="3302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3378200"/>
            <a:ext cx="22098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4473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정확도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4203700"/>
            <a:ext cx="7315200" cy="5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85800" y="4406900"/>
            <a:ext cx="231267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슬라이드 내용을 기반으로 스크립트를 생성하지만, 일부 페이지에서는 문맥을 잘못 이해하거나 부정확한 설명이 생성되는 경우가 있음.</a:t>
            </a:r>
          </a:p>
          <a:p>
            <a:pPr algn="l" lvl="0">
              <a:lnSpc>
                <a:spcPct val="116199"/>
              </a:lnSpc>
            </a:pP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→ 향후 전체 슬라이드 흐름을 반영한 </a:t>
            </a:r>
            <a:r>
              <a:rPr lang="en-US" sz="3407" b="true" i="false" u="none" strike="noStrike">
                <a:solidFill>
                  <a:srgbClr val="30AEAA"/>
                </a:solidFill>
                <a:latin typeface="Pretendard Medium"/>
                <a:ea typeface="Pretendard Medium"/>
                <a:cs typeface="Pretendard Medium"/>
              </a:rPr>
              <a:t>문맥 기반 생성</a:t>
            </a: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으로 개선 가능.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6565900"/>
            <a:ext cx="5689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73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사진 분석 기능 강화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7391400"/>
            <a:ext cx="73152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85800" y="7607300"/>
            <a:ext cx="231267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이미지 위주의 슬라이드나 손글씨 사진이 포함된 경우, 내용을 정확히 인식하지 못하는 한계가 있음.</a:t>
            </a:r>
          </a:p>
          <a:p>
            <a:pPr algn="l" lvl="0">
              <a:lnSpc>
                <a:spcPct val="116199"/>
              </a:lnSpc>
            </a:pP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→ </a:t>
            </a:r>
            <a:r>
              <a:rPr lang="en-US" sz="3407" b="true" i="false" u="none" strike="noStrike">
                <a:solidFill>
                  <a:srgbClr val="30AEAA"/>
                </a:solidFill>
                <a:latin typeface="Pretendard Medium"/>
                <a:ea typeface="Pretendard Medium"/>
                <a:cs typeface="Pretendard Medium"/>
              </a:rPr>
              <a:t>OCR 및 Vision 모델</a:t>
            </a: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을 추가하여 </a:t>
            </a:r>
            <a:r>
              <a:rPr lang="en-US" sz="3407" b="tru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이미지 이해 성능 향상</a:t>
            </a: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 가능.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" y="9702800"/>
            <a:ext cx="5689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73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 자막 기능 추가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0528300"/>
            <a:ext cx="7315200" cy="50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85800" y="10744200"/>
            <a:ext cx="231267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생성된 강의 영상에 자막 기능이 없어 가독성과 접근성이 다소 부족함.</a:t>
            </a:r>
          </a:p>
          <a:p>
            <a:pPr algn="l" lvl="0">
              <a:lnSpc>
                <a:spcPct val="116199"/>
              </a:lnSpc>
            </a:pP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→ </a:t>
            </a:r>
            <a:r>
              <a:rPr lang="en-US" sz="3407" b="true" i="false" u="none" strike="noStrike">
                <a:solidFill>
                  <a:srgbClr val="30AEAA"/>
                </a:solidFill>
                <a:latin typeface="Pretendard Medium"/>
                <a:ea typeface="Pretendard Medium"/>
                <a:cs typeface="Pretendard Medium"/>
              </a:rPr>
              <a:t>음성 기반 자동 자막 생성 기능</a:t>
            </a: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 추가 시 </a:t>
            </a:r>
            <a:r>
              <a:rPr lang="en-US" sz="3407" b="tru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사용자 편의성 향상</a:t>
            </a:r>
            <a:r>
              <a:rPr lang="en-US" sz="3407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 기대.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73533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3. 부록 - 전체 코드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400" y="2171700"/>
            <a:ext cx="4521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[State 선언] 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61700" y="241300"/>
            <a:ext cx="355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8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020800" y="2933700"/>
            <a:ext cx="9740900" cy="9867900"/>
          </a:xfrm>
          <a:prstGeom prst="rect">
            <a:avLst/>
          </a:prstGeom>
          <a:effectLst>
            <a:outerShdw dir="2700000" dist="374776" blurRad="389767">
              <a:srgbClr val="787878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969000" y="3416300"/>
            <a:ext cx="7658100" cy="7886700"/>
          </a:xfrm>
          <a:prstGeom prst="rect">
            <a:avLst/>
          </a:prstGeom>
          <a:effectLst>
            <a:outerShdw dir="2820000" dist="294664" blurRad="574594">
              <a:srgbClr val="787878">
                <a:alpha val="5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441700"/>
            <a:ext cx="5041900" cy="7734300"/>
          </a:xfrm>
          <a:prstGeom prst="rect">
            <a:avLst/>
          </a:prstGeom>
          <a:effectLst>
            <a:outerShdw dir="2820000" dist="193842" blurRad="377993">
              <a:srgbClr val="787878">
                <a:alpha val="5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723900" y="8318500"/>
            <a:ext cx="99568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48300" y="2171700"/>
            <a:ext cx="3759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36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[정보분해]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9207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3. 부록 - 전체 코드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400" y="2222500"/>
            <a:ext cx="57404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[페이지별 내용 생성]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61700" y="241300"/>
            <a:ext cx="3556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9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0200" y="3340100"/>
            <a:ext cx="9880600" cy="8915400"/>
          </a:xfrm>
          <a:prstGeom prst="rect">
            <a:avLst/>
          </a:prstGeom>
          <a:effectLst>
            <a:outerShdw dir="2700000" dist="342702" blurRad="356410">
              <a:srgbClr val="9E9E9E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4597400" y="7670800"/>
            <a:ext cx="114808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53700" y="1993900"/>
            <a:ext cx="8623300" cy="11341100"/>
          </a:xfrm>
          <a:prstGeom prst="rect">
            <a:avLst/>
          </a:prstGeom>
          <a:effectLst>
            <a:outerShdw dir="2700000" dist="331673" blurRad="344940">
              <a:srgbClr val="9E9E9E">
                <a:alpha val="5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367500" y="4864100"/>
            <a:ext cx="4699000" cy="4292600"/>
          </a:xfrm>
          <a:prstGeom prst="rect">
            <a:avLst/>
          </a:prstGeom>
          <a:effectLst>
            <a:outerShdw dir="2700000" dist="165327" blurRad="171940">
              <a:srgbClr val="9E9E9E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73533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3. 부록 - 전체 코드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400" y="2133600"/>
            <a:ext cx="57404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[강의 스크립트 생성]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61700" y="241300"/>
            <a:ext cx="5334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7000" y="2133600"/>
            <a:ext cx="3225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6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[음성 변환]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17000" y="3149600"/>
            <a:ext cx="7010400" cy="10058400"/>
          </a:xfrm>
          <a:prstGeom prst="rect">
            <a:avLst/>
          </a:prstGeom>
          <a:effectLst>
            <a:outerShdw dir="2700000" dist="269414" blurRad="280190">
              <a:srgbClr val="9E9E9E">
                <a:alpha val="5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15557500" y="2133600"/>
            <a:ext cx="33147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[영상 제작]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557500" y="3302000"/>
            <a:ext cx="8521700" cy="4089400"/>
          </a:xfrm>
          <a:prstGeom prst="rect">
            <a:avLst/>
          </a:prstGeom>
          <a:effectLst>
            <a:outerShdw dir="2700000" dist="157171" blurRad="163458">
              <a:srgbClr val="9E9E9E">
                <a:alpha val="50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7188200"/>
            <a:ext cx="266700" cy="1219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2984500"/>
            <a:ext cx="8039100" cy="10350500"/>
          </a:xfrm>
          <a:prstGeom prst="rect">
            <a:avLst/>
          </a:prstGeom>
          <a:effectLst>
            <a:outerShdw dir="2700000" dist="309011" blurRad="321371">
              <a:srgbClr val="9E9E9E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F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1943100"/>
            <a:ext cx="23812500" cy="1145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" y="381000"/>
            <a:ext cx="9207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3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3. 부록 - 전체 코드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61700" y="241300"/>
            <a:ext cx="4699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11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09600" y="9652000"/>
            <a:ext cx="7442200" cy="2641600"/>
          </a:xfrm>
          <a:prstGeom prst="rect">
            <a:avLst/>
          </a:prstGeom>
          <a:effectLst>
            <a:outerShdw dir="2820000" dist="101624" blurRad="198167">
              <a:srgbClr val="000000">
                <a:alpha val="16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09600" y="3784600"/>
            <a:ext cx="7988300" cy="4978400"/>
          </a:xfrm>
          <a:prstGeom prst="rect">
            <a:avLst/>
          </a:prstGeom>
          <a:effectLst>
            <a:outerShdw dir="2820000" dist="191497" blurRad="373419">
              <a:srgbClr val="000000">
                <a:alpha val="16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533400" y="2133600"/>
            <a:ext cx="57404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5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[영상 결합]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3400" y="3200400"/>
            <a:ext cx="3848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6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State의 키(리스트)에 누적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400" y="8978900"/>
            <a:ext cx="1625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6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분기 함수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067800" y="3784600"/>
            <a:ext cx="8585200" cy="7505700"/>
          </a:xfrm>
          <a:prstGeom prst="rect">
            <a:avLst/>
          </a:prstGeom>
          <a:effectLst>
            <a:outerShdw dir="2820000" dist="288567" blurRad="562706">
              <a:srgbClr val="000000">
                <a:alpha val="16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9067800" y="3200400"/>
            <a:ext cx="1625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6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영상 결합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390100" y="12560300"/>
            <a:ext cx="292100" cy="279400"/>
          </a:xfrm>
          <a:prstGeom prst="rect">
            <a:avLst/>
          </a:prstGeom>
          <a:effectLst>
            <a:outerShdw dir="2700000" dist="0" blurRad="39759">
              <a:srgbClr val="FFFFFF">
                <a:alpha val="5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538700" y="6604000"/>
            <a:ext cx="6045200" cy="420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542000" y="7988300"/>
            <a:ext cx="5232400" cy="5029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21480000">
            <a:off x="22250400" y="10236200"/>
            <a:ext cx="1333500" cy="1320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1200000">
            <a:off x="21958300" y="7645400"/>
            <a:ext cx="1143000" cy="1181100"/>
          </a:xfrm>
          <a:prstGeom prst="rect">
            <a:avLst/>
          </a:prstGeom>
        </p:spPr>
        <p:txBody>
          <a:bodyPr anchor="ctr" rtlCol="false" lIns="0" tIns="80298" rIns="0" bIns="80298"/>
          <a:lstStyle/>
          <a:p>
            <a:pPr algn="l" lvl="0">
              <a:lnSpc>
                <a:spcPct val="100429"/>
              </a:lnSpc>
            </a:pPr>
            <a:r>
              <a:rPr lang="en-US" sz="6655" b="false" i="false" u="none" strike="noStrike">
                <a:solidFill>
                  <a:srgbClr val="000000"/>
                </a:solidFill>
                <a:latin typeface="THEAlienmiri"/>
                <a:ea typeface="THEAlienmiri"/>
                <a:cs typeface="THEAlienmiri"/>
              </a:rPr>
              <a:t>에</a:t>
            </a:r>
          </a:p>
        </p:txBody>
      </p:sp>
      <p:sp>
        <p:nvSpPr>
          <p:cNvPr name="TextBox 17" id="17"/>
          <p:cNvSpPr txBox="true"/>
          <p:nvPr/>
        </p:nvSpPr>
        <p:spPr>
          <a:xfrm rot="1200000">
            <a:off x="22542500" y="8140700"/>
            <a:ext cx="1130300" cy="1181100"/>
          </a:xfrm>
          <a:prstGeom prst="rect">
            <a:avLst/>
          </a:prstGeom>
        </p:spPr>
        <p:txBody>
          <a:bodyPr anchor="ctr" rtlCol="false" lIns="0" tIns="80298" rIns="0" bIns="80298"/>
          <a:lstStyle/>
          <a:p>
            <a:pPr algn="l" lvl="0">
              <a:lnSpc>
                <a:spcPct val="100429"/>
              </a:lnSpc>
            </a:pPr>
            <a:r>
              <a:rPr lang="en-US" sz="6655" b="false" i="false" u="none" strike="noStrike">
                <a:solidFill>
                  <a:srgbClr val="000000"/>
                </a:solidFill>
                <a:latin typeface="THEAlienmiri"/>
                <a:ea typeface="THEAlienmiri"/>
                <a:cs typeface="THEAlienmiri"/>
              </a:rPr>
              <a:t>헴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7880000">
            <a:off x="22987000" y="8064500"/>
            <a:ext cx="6604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9560000">
            <a:off x="23241000" y="8318500"/>
            <a:ext cx="3810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6860000">
            <a:off x="22809200" y="8051800"/>
            <a:ext cx="520700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